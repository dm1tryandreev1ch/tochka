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fntdata" ContentType="application/x-fontdata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8be2b366044c1" /><Relationship Type="http://schemas.openxmlformats.org/officeDocument/2006/relationships/extended-properties" Target="/docProps/app.xml" Id="R5fb1c16cc49949e3" /><Relationship Type="http://schemas.openxmlformats.org/officeDocument/2006/relationships/officeDocument" Target="/ppt/presentation.xml" Id="R6be2833316514b2e" /></Relationships>
</file>

<file path=ppt/presentation.xml><?xml version="1.0" encoding="utf-8"?>
<p:presentation xmlns:p="http://schemas.openxmlformats.org/presentationml/2006/main" xmlns:r="http://schemas.openxmlformats.org/officeDocument/2006/relationships" embedTrueTypeFonts="1" saveSubsetFonts="0">
  <p:sldMasterIdLst>
    <p:sldMasterId id="2147483648" r:id="Rbde0122b87fe456c"/>
  </p:sldMasterIdLst>
  <p:notesMasterIdLst>
    <p:notesMasterId r:id="R5d284323019841bd"/>
  </p:notesMasterIdLst>
  <p:sldIdLst>
    <p:sldId id="256" r:id="Rc324c8ad31c34bca"/>
    <p:sldId id="257" r:id="Reeddbd2362cd436b"/>
    <p:sldId id="258" r:id="Rd112648626294715"/>
    <p:sldId id="259" r:id="Rf2f42cb583d544a7"/>
    <p:sldId id="260" r:id="R6fa91230bc794205"/>
    <p:sldId id="261" r:id="Rad3d2f7b156243ad"/>
    <p:sldId id="262" r:id="R43c8c34422b64597"/>
    <p:sldId id="263" r:id="R28f49a1d6d184c17"/>
    <p:sldId id="264" r:id="Rf990b9e66ff544b6"/>
    <p:sldId id="265" r:id="R7aa3f395155d4623"/>
    <p:sldId id="266" r:id="R802b6cef798a496d"/>
  </p:sldIdLst>
  <p:sldSz cx="12192000" cy="6858000"/>
  <p:notesSz cx="6858000" cy="9144000"/>
  <p:embeddedFontLst>
    <p:embeddedFont>
      <p:font typeface="Golos Text"/>
      <p:regular r:id="rIdGolosFont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9fd44fed1599456e" /><ns0:Relationship Type="http://schemas.openxmlformats.org/officeDocument/2006/relationships/slideMaster" Target="/ppt/slideMasters/slideMaster1.xml" Id="Rbde0122b87fe456c" /><ns0:Relationship Type="http://schemas.openxmlformats.org/officeDocument/2006/relationships/notesMaster" Target="/ppt/notesMasters/notesMaster1.xml" Id="R5d284323019841bd" /><ns0:Relationship Type="http://schemas.openxmlformats.org/officeDocument/2006/relationships/presProps" Target="/ppt/presProps.xml" Id="Re3bc924f043b440c" /><ns0:Relationship Type="http://schemas.openxmlformats.org/officeDocument/2006/relationships/tableStyles" Target="/ppt/tableStyles.xml" Id="Rf385dd230279400f" /><ns0:Relationship Type="http://schemas.openxmlformats.org/officeDocument/2006/relationships/slide" Target="/ppt/slides/slide1.xml" Id="Rc324c8ad31c34bca" /><ns0:Relationship Type="http://schemas.openxmlformats.org/officeDocument/2006/relationships/slide" Target="/ppt/slides/slide2.xml" Id="Reeddbd2362cd436b" /><ns0:Relationship Type="http://schemas.openxmlformats.org/officeDocument/2006/relationships/slide" Target="/ppt/slides/slide3.xml" Id="Rd112648626294715" /><ns0:Relationship Type="http://schemas.openxmlformats.org/officeDocument/2006/relationships/slide" Target="/ppt/slides/slide4.xml" Id="Rf2f42cb583d544a7" /><ns0:Relationship Type="http://schemas.openxmlformats.org/officeDocument/2006/relationships/slide" Target="/ppt/slides/slide5.xml" Id="R6fa91230bc794205" /><ns0:Relationship Type="http://schemas.openxmlformats.org/officeDocument/2006/relationships/slide" Target="/ppt/slides/slide6.xml" Id="Rad3d2f7b156243ad" /><ns0:Relationship Type="http://schemas.openxmlformats.org/officeDocument/2006/relationships/slide" Target="/ppt/slides/slide7.xml" Id="R43c8c34422b64597" /><ns0:Relationship Type="http://schemas.openxmlformats.org/officeDocument/2006/relationships/slide" Target="/ppt/slides/slide8.xml" Id="R28f49a1d6d184c17" /><ns0:Relationship Type="http://schemas.openxmlformats.org/officeDocument/2006/relationships/slide" Target="/ppt/slides/slide9.xml" Id="Rf990b9e66ff544b6" /><ns0:Relationship Type="http://schemas.openxmlformats.org/officeDocument/2006/relationships/slide" Target="/ppt/slides/slide10.xml" Id="R7aa3f395155d4623" /><ns0:Relationship Type="http://schemas.openxmlformats.org/officeDocument/2006/relationships/slide" Target="/ppt/slides/slide11.xml" Id="R802b6cef798a496d" /><ns0:Relationship Id="rIdGolosFont" Type="http://schemas.openxmlformats.org/officeDocument/2006/relationships/font" Target="fonts/GolosText.fntdata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82e0d5918447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e84b3f2bbb4bb5" /><Relationship Type="http://schemas.openxmlformats.org/officeDocument/2006/relationships/notesMaster" Target="/ppt/notesMasters/notesMaster1.xml" Id="R3b52b7de44a4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a5e1dbc70a42f6" /><Relationship Type="http://schemas.openxmlformats.org/officeDocument/2006/relationships/notesMaster" Target="/ppt/notesMasters/notesMaster1.xml" Id="R0759fa50892e42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29dbd091f04d7a" /><Relationship Type="http://schemas.openxmlformats.org/officeDocument/2006/relationships/notesMaster" Target="/ppt/notesMasters/notesMaster1.xml" Id="R5ac21642c58d42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65a4dd535e4347" /><Relationship Type="http://schemas.openxmlformats.org/officeDocument/2006/relationships/notesMaster" Target="/ppt/notesMasters/notesMaster1.xml" Id="R94c002e2218742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711d1511834be4" /><Relationship Type="http://schemas.openxmlformats.org/officeDocument/2006/relationships/notesMaster" Target="/ppt/notesMasters/notesMaster1.xml" Id="R24fb7304995047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3b172fbf754f6b" /><Relationship Type="http://schemas.openxmlformats.org/officeDocument/2006/relationships/notesMaster" Target="/ppt/notesMasters/notesMaster1.xml" Id="R830de28f192d45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cfce9cf20740bc" /><Relationship Type="http://schemas.openxmlformats.org/officeDocument/2006/relationships/notesMaster" Target="/ppt/notesMasters/notesMaster1.xml" Id="R5896be19f5b442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50e357e493473e" /><Relationship Type="http://schemas.openxmlformats.org/officeDocument/2006/relationships/notesMaster" Target="/ppt/notesMasters/notesMaster1.xml" Id="R546ce37ba0664f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15d8a4f54143ff" /><Relationship Type="http://schemas.openxmlformats.org/officeDocument/2006/relationships/notesMaster" Target="/ppt/notesMasters/notesMaster1.xml" Id="R7ec7b68e509847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02c69d214c47cc" /><Relationship Type="http://schemas.openxmlformats.org/officeDocument/2006/relationships/notesMaster" Target="/ppt/notesMasters/notesMaster1.xml" Id="R3304701139924e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6be3f241e54dea" /><Relationship Type="http://schemas.openxmlformats.org/officeDocument/2006/relationships/notesMaster" Target="/ppt/notesMasters/notesMaster1.xml" Id="R0b783299a3644d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Точка — концепция ИИ-агента для входящих звонков. Презентация адресована потенциальному партнёру-оператору. Интеграция и экономика далее представлены как проектные предложения, а не как заключённые договорённости.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Персона исходной презентации: Иван Ракевич, 23 года, владелец небольшой IT-компании. Это образ целевого пользователя, не подтверждённый кейс клиента. Его день занят поездками и встречами. Пропущенный неизвестный номер может оказаться новым клиентом или партнёром. Точная сумма потерь не оценивалась. Иллюстрация создана ИИ, персонаж вымышленный.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Целевой сценарий: агент принимает входящий звонок, выясняет запрос и сохраняет результат разговора. Если вопрос требует вмешательства сотрудника, нужен предусмотренный сценарий передачи человеку. Наличие конкретных действий зависит от подключённых каналов и интеграций.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Проектная каскадная архитектура исходника: STT переводит речь в текст, лёгкая LLM обрабатывает типовые запросы, тяжёлая модель используется для сложных задач, TTS синтезирует ответ. Цель — расходовать меньше вычислительных ресурсов на типовые диалоги. Экономию и качество необходимо измерить на пилоте. В перспективе: аналитика частых вопросов, улучшение сценариев на основе реальных диалогов и история обращений.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Карта пути клиента из исходника, укрупнённая до трёх периодов. До подключения: профессиональное впечатление, кейсы экономии времени, пробный период и демонстрация аналитики. На старте: быстрый мастер настройки, понятная работа с данными, примеры диалогов, ручная коррекция. При регулярной работе: сохранение сведений о клиенте, перевод на сотрудника, CRM/email-модули и консультации по расширению. Это проектные принципы клиентского опыта; условия пробного периода и интеграций требуют определения.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сценарий партнёрской интеграции из исходной презентации. Пользователь активирует услугу в приложении оператора, даёт необходимые согласия, выбирает правила обработки звонков и проверяет агента. Хостинг внутри инфраструктуры МТС, работа на существующем номере и списание с баланса требуют технического и коммерческого согласования. Юридические условия обработки данных необходимо уточнять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Предварительная коммерческая гипотеза из исходника. Тариф 9,90 BYN в месяц. Предлагаемое распределение выручки 50/50: 4,95 BYN оператору и 4,95 BYN команде. При 1 000 платных абонентов общая месячная выручка — 9 900 BYN, доля каждой стороны — 4 950 BYN до расходов и налогов. Это не прибыль. Лимиты минут, оплата превышения, плательщик вычислительных и телефонных расходов и условия партнёрства ещё не определены. Утверждения исходника о нулевой себестоимости и окупаемости с одного абонента не подтверждаются его же биллинговой таблицей.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Ставки — расчётные допущения из исходной презентации, не подтверждённые тарифы поставщиков. Телефония — 0,05 BYN/мин, STT/TTS — 0,05 BYN/мин. Лёгкая LLM — 0,02 BYN за 1 000 токенов, тяжёлая — 0,08 BYN за 1 000 токенов. Формула базовой модели: 0,10 × минуты + 0,02 × тысячи токенов лёгкой модели + 0,08 × тысячи токенов тяжёлой модели. При каскадной обработке учитывать токены обеих моделей. Дополнительно оценить инфраструктуру, разработку, поддержку, налоги и другие постоянные расходы. Указанные в исходнике 0–350 BYN на комплаенс и SLA 99,9%+ не имеют расчёта или подтверждения и не используются как обещания.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Иллюстративный расчёт, а не прогноз спроса. Допущение: базовые расходы 0,10 BYN за минуту оплачиваются из доли команды 4,95 BYN на абонента в месяц. 10 минут: базовые расходы 1,00 BYN, остаток 3,95 BYN. 30 минут: расходы 3,00 BYN, остаток 1,95 BYN. Остаток не является прибылью: из него ещё нужно покрыть LLM, инфраструктуру, разработку, поддержку и налоги. Фактическая модель зависит от распределения расходов между партнёрами. Источник ставок: исходная «Точка.pptx», слайды 6–7. Все суммы BYN на одного абонента за месяц.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сценарий живой демонстрации, а не запись реального разговора. Позвонить агенту, задать вопрос о времени работы, затем попросить сотрудника перезвонить. Проверить, что агент уточнил контактные данные и запрос, а в кабинете появился фактический результат. Показывать только реально подключённые и работающие действия. Передачу человеку демонстрировать только при готовой телефонии.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по следующему этапу: согласовать сценарии, ограниченную группу абонентов, правила передачи человеку, обработку данных, бюджет и целевые метрики. До масштабирования измерить долю завершённых обращений, задержку ответа, качество распознавания и фактическую стоимость минуты. Команда в исходном файле не перечислена, поэтому состав и имена не заявляются. Дальнейшее развитие из исходника: CRM/email, аналитика частых вопросов и улучшение сценариев по результатам диалогов.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 содержания: «Точка.pptx», предоставленная презентация. Дизайн: docs/design/DESIGN_SYSTEM.md, локальный Golos Text, утверждённые SVG «Точки».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c2aef32b243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8009b7e08424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6b205f48fd48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50bcde34b430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f5056d08d4f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795ef43b145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7EA889-70E9-4CBE-BA7D-8C5D14820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41A7C9-44CA-46FB-B8AF-E8C2EC436F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CB5B95C-68C7-4F7F-9F64-1C7D2ECD5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892128-97F1-4D24-BEDF-5085451569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8DA8A57-0DCE-4B8C-B322-25296BF386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619BD6-66CD-4B08-AEBE-8EE4E71308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F7659B-BD7D-46B2-A5D3-8389269327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E40205-C3EF-4945-A61E-9E12F1DBA5A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30E3FB5-F5AB-41E2-A235-98AFBFA36B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25C6C0-E6DF-42BA-9AB3-5499771B925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7891ee76e941ce" /><Relationship Type="http://schemas.openxmlformats.org/officeDocument/2006/relationships/slideLayout" Target="/ppt/slideLayouts/slideLayout1.xml" Id="Re13695e5206c4fa6" /><Relationship Type="http://schemas.openxmlformats.org/officeDocument/2006/relationships/slideLayout" Target="/ppt/slideLayouts/slideLayout2.xml" Id="Rf7a00001bf644096" /><Relationship Type="http://schemas.openxmlformats.org/officeDocument/2006/relationships/slideLayout" Target="/ppt/slideLayouts/slideLayout3.xml" Id="R4fb361cb7a6f4ab3" /><Relationship Type="http://schemas.openxmlformats.org/officeDocument/2006/relationships/slideLayout" Target="/ppt/slideLayouts/slideLayout4.xml" Id="Raf6a84e964e749eb" /><Relationship Type="http://schemas.openxmlformats.org/officeDocument/2006/relationships/slideLayout" Target="/ppt/slideLayouts/slideLayout5.xml" Id="Rb92d36667f704e32" /><Relationship Type="http://schemas.openxmlformats.org/officeDocument/2006/relationships/slideLayout" Target="/ppt/slideLayouts/slideLayout6.xml" Id="Rdd3bd7d1388844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3695e5206c4fa6"/>
    <p:sldLayoutId xmlns:r="http://schemas.openxmlformats.org/officeDocument/2006/relationships" id="2147483650" r:id="Rf7a00001bf644096"/>
    <p:sldLayoutId xmlns:r="http://schemas.openxmlformats.org/officeDocument/2006/relationships" id="2147483651" r:id="R4fb361cb7a6f4ab3"/>
    <p:sldLayoutId xmlns:r="http://schemas.openxmlformats.org/officeDocument/2006/relationships" id="2147483652" r:id="Raf6a84e964e749eb"/>
    <p:sldLayoutId xmlns:r="http://schemas.openxmlformats.org/officeDocument/2006/relationships" id="2147483653" r:id="Rb92d36667f704e32"/>
    <p:sldLayoutId xmlns:r="http://schemas.openxmlformats.org/officeDocument/2006/relationships" id="2147483654" r:id="Rdd3bd7d1388844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7fdedcbfa145bc" /><Relationship Type="http://schemas.openxmlformats.org/officeDocument/2006/relationships/image" Target="/ppt/media/image.png" Id="Reab2a3ff7e9b44a9" /><Relationship Type="http://schemas.openxmlformats.org/officeDocument/2006/relationships/notesSlide" Target="/ppt/notesSlides/notesSlide1.xml" Id="R6c1657294a3e43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127c03061491b" /><Relationship Type="http://schemas.openxmlformats.org/officeDocument/2006/relationships/image" Target="/ppt/media/image2.png" Id="R98027bdfce5041e6" /><Relationship Type="http://schemas.openxmlformats.org/officeDocument/2006/relationships/image" Target="/ppt/media/image3.png" Id="Rb672990c7cfe4bc5" /><Relationship Type="http://schemas.openxmlformats.org/officeDocument/2006/relationships/notesSlide" Target="/ppt/notesSlides/notesSlide2.xml" Id="R5cbf8f2668c043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67c4bb38e34a9e" /><Relationship Type="http://schemas.openxmlformats.org/officeDocument/2006/relationships/image" Target="/ppt/media/image4.png" Id="Re1c684fee71341b1" /><Relationship Type="http://schemas.openxmlformats.org/officeDocument/2006/relationships/notesSlide" Target="/ppt/notesSlides/notesSlide3.xml" Id="R2f6624e60563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645456e7f84bbd" /><Relationship Type="http://schemas.openxmlformats.org/officeDocument/2006/relationships/image" Target="/ppt/media/image5.png" Id="R7db4d928023e4041" /><Relationship Type="http://schemas.openxmlformats.org/officeDocument/2006/relationships/notesSlide" Target="/ppt/notesSlides/notesSlide4.xml" Id="R5bf19213764643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90b039c404958" /><Relationship Type="http://schemas.openxmlformats.org/officeDocument/2006/relationships/image" Target="/ppt/media/image6.png" Id="R388e862e446a4328" /><Relationship Type="http://schemas.openxmlformats.org/officeDocument/2006/relationships/notesSlide" Target="/ppt/notesSlides/notesSlide5.xml" Id="R216d5559931c40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a226e8e8e74cb2" /><Relationship Type="http://schemas.openxmlformats.org/officeDocument/2006/relationships/image" Target="/ppt/media/image7.png" Id="R5dc9835b5cda4bce" /><Relationship Type="http://schemas.openxmlformats.org/officeDocument/2006/relationships/notesSlide" Target="/ppt/notesSlides/notesSlide6.xml" Id="R8d7f27498b2a46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f2643c84644a3" /><Relationship Type="http://schemas.openxmlformats.org/officeDocument/2006/relationships/image" Target="/ppt/media/image8.png" Id="R431747f82a2b4fd7" /><Relationship Type="http://schemas.openxmlformats.org/officeDocument/2006/relationships/notesSlide" Target="/ppt/notesSlides/notesSlide7.xml" Id="Rbfb93518e0cf4e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53fdd66164718" /><Relationship Type="http://schemas.openxmlformats.org/officeDocument/2006/relationships/image" Target="/ppt/media/image9.png" Id="R850047f0582045d7" /><Relationship Type="http://schemas.openxmlformats.org/officeDocument/2006/relationships/notesSlide" Target="/ppt/notesSlides/notesSlide8.xml" Id="R77c88fe5315142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f5cea0c014315" /><Relationship Type="http://schemas.openxmlformats.org/officeDocument/2006/relationships/image" Target="/ppt/media/image10.png" Id="R4681698ed97e4b24" /><Relationship Type="http://schemas.openxmlformats.org/officeDocument/2006/relationships/chart" Target="/ppt/slides/charts/chart1.xml" Id="R14a10b0b14954560" /><Relationship Type="http://schemas.openxmlformats.org/officeDocument/2006/relationships/notesSlide" Target="/ppt/notesSlides/notesSlide9.xml" Id="R5251fba740184de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760785cd30487b" /><Relationship Type="http://schemas.openxmlformats.org/officeDocument/2006/relationships/image" Target="/ppt/media/image11.png" Id="R454feff0132849c2" /><Relationship Type="http://schemas.openxmlformats.org/officeDocument/2006/relationships/notesSlide" Target="/ppt/notesSlides/notesSlide10.xml" Id="R08ead432726e42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533060517246e3" /><Relationship Type="http://schemas.openxmlformats.org/officeDocument/2006/relationships/image" Target="/ppt/media/image12.png" Id="R2ce75bc7369146df" /><Relationship Type="http://schemas.openxmlformats.org/officeDocument/2006/relationships/notesSlide" Target="/ppt/notesSlides/notesSlide11.xml" Id="R0b1346dd2da241c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Телефония и речь</c:v>
          </c:tx>
          <c:spPr>
            <a:solidFill xmlns:a="http://schemas.openxmlformats.org/drawingml/2006/main">
              <a:srgbClr val="2F2838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75" b="0">
                    <a:solidFill>
                      <a:srgbClr val="F2F0F4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Data'!$A$2:$A$3</c:f>
              <c:strCache>
                <c:ptCount val="2"/>
                <c:pt idx="0">
                  <c:v>30 минут</c:v>
                </c:pt>
                <c:pt idx="1">
                  <c:v>10 минут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v>Остаток до прочих расходов</c:v>
          </c:tx>
          <c:spPr>
            <a:solidFill xmlns:a="http://schemas.openxmlformats.org/drawingml/2006/main">
              <a:srgbClr val="D9D5DE"/>
            </a:solidFill>
          </c:spPr>
          <c:invertIfNegative val="0"/>
          <c:dLbls>
            <c:numFmt formatCode="0.0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75" b="0">
                    <a:solidFill>
                      <a:srgbClr val="17121D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30 минут</c:v>
                </c:pt>
                <c:pt idx="1">
                  <c:v>10 минут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1.95</c:v>
                </c:pt>
                <c:pt idx="1">
                  <c:v>3.95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Golos Text"/>
                  <a:ea typeface="Golos Text"/>
                  <a:cs typeface="Golos 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72768"/>
      </c:catAx>
      <c:valAx>
        <c:axId val="48672768"/>
        <c:scaling>
          <c:orientation val="minMax"/>
          <c:max val="4.95"/>
          <c:min val="0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Golos Text"/>
                <a:ea typeface="Golos Text"/>
                <a:cs typeface="Golos T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2F0F4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2F0F4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221D29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6" name="">
            <a:extLst>
              <a:ext uri="{FF2B5EF4-FFF2-40B4-BE49-F238E27FC236}">
                <ns2:creationId id="{0ABB3A93-26AE-4EF8-95F3-106769F688D2}"/>
              </a:ext>
            </a:extLst>
          </p:cNvPr>
          <p:cNvPicPr>
            <a:picLocks noChangeAspect="1"/>
          </p:cNvPicPr>
          <p:nvPr/>
        </p:nvPicPr>
        <p:blipFill>
          <a:blip r:embed="Reab2a3ff7e9b44a9"/>
          <a:stretch/>
        </p:blipFill>
        <p:spPr>
          <a:xfrm>
            <a:off x="609736" y="666750"/>
            <a:ext cx="5143227" cy="897922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52AF76C6-E219-4850-ADB4-78E7C579E00C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3" name="hero">
            <a:extLst>
              <a:ext uri="{FF2B5EF4-FFF2-40B4-BE49-F238E27FC236}">
                <ns2:creationId id="{42A37047-8401-4973-AC93-BECD3BDBB873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10972800" cy="1733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5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ИИ-агент для</a:t>
            </a:r>
          </a:p>
          <a:p>
            <a:pPr algn="l">
              <a:defRPr sz="5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5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входящих звонков</a:t>
            </a:r>
          </a:p>
        </p:txBody>
      </p:sp>
      <p:sp>
        <p:nvSpPr>
          <p:cNvPr id="4" name="reveal-1">
            <a:extLst>
              <a:ext uri="{FF2B5EF4-FFF2-40B4-BE49-F238E27FC236}">
                <ns2:creationId id="{D863DCDA-C8A3-4778-9BAD-3D8F2AA15E65}"/>
              </a:ext>
            </a:extLst>
          </p:cNvPr>
          <p:cNvSpPr>
            <a:spLocks noGrp="1"/>
          </p:cNvSpPr>
          <p:nvPr/>
        </p:nvSpPr>
        <p:spPr>
          <a:xfrm>
            <a:off x="647700" y="4895850"/>
            <a:ext cx="10001250" cy="1028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23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Для предпринимателей, которые не всегда</a:t>
            </a:r>
          </a:p>
          <a:p>
            <a:pPr algn="l">
              <a:defRPr sz="23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23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могут ответить клиенту лично</a:t>
            </a:r>
          </a:p>
        </p:txBody>
      </p:sp>
      <p:sp>
        <p:nvSpPr>
          <p:cNvPr id="5" name="static-disclosure">
            <a:extLst>
              <a:ext uri="{FF2B5EF4-FFF2-40B4-BE49-F238E27FC236}">
                <ns2:creationId id="{539F6DBD-C1E0-47F5-97DD-040E4D32FC40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103822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Концепция сервиса для экосистемы МТС</a:t>
            </a:r>
          </a:p>
        </p:txBody>
      </p:sp>
    </p:spTree>
    <p:extLst>
      <p:ext uri="{BB962C8B-B14F-4D97-AF65-F5344CB8AC3E}">
        <ns4:creationId val="126870390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9" name="">
            <a:extLst>
              <a:ext uri="{FF2B5EF4-FFF2-40B4-BE49-F238E27FC236}">
                <ns2:creationId id="{DAD7ABD0-BF0A-4AB7-A198-E489F7D5602F}"/>
              </a:ext>
            </a:extLst>
          </p:cNvPr>
          <p:cNvPicPr>
            <a:picLocks noChangeAspect="1"/>
          </p:cNvPicPr>
          <p:nvPr/>
        </p:nvPicPr>
        <p:blipFill>
          <a:blip r:embed="R98027bdfce5041e6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8D6A3CEC-7586-4679-816C-4324373AD16D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3" name="title">
            <a:extLst>
              <a:ext uri="{FF2B5EF4-FFF2-40B4-BE49-F238E27FC236}">
                <ns2:creationId id="{060900FC-B3B9-4142-B89A-94B346F716B9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Входящие звонки</a:t>
            </a:r>
          </a:p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между встречами</a:t>
            </a:r>
          </a:p>
        </p:txBody>
      </p:sp>
      <p:pic>
        <p:nvPicPr>
          <p:cNvPr id="4" name="">
            <a:extLst>
              <a:ext uri="{FF2B5EF4-FFF2-40B4-BE49-F238E27FC236}">
                <ns2:creationId id="{C2697FE6-607C-4953-BAE7-25A53C91E48F}"/>
              </a:ext>
            </a:extLst>
          </p:cNvPr>
          <p:cNvPicPr>
            <a:picLocks noChangeAspect="1"/>
          </p:cNvPicPr>
          <p:nvPr/>
        </p:nvPicPr>
        <p:blipFill>
          <a:blip r:embed="Rb672990c7cfe4bc5"/>
          <a:srcRect l="9042" t="0" r="9042" b="0"/>
          <a:stretch>
            <a:fillRect l="0" t="0" r="0" b="0"/>
          </a:stretch>
        </p:blipFill>
        <p:spPr>
          <a:xfrm>
            <a:off x="7696200" y="0"/>
            <a:ext cx="4495800" cy="6858000"/>
          </a:xfrm>
          <a:prstGeom prst="rect">
            <a:avLst/>
          </a:prstGeom>
        </p:spPr>
      </p:pic>
      <p:sp>
        <p:nvSpPr>
          <p:cNvPr id="5" name="reveal-1">
            <a:extLst>
              <a:ext uri="{FF2B5EF4-FFF2-40B4-BE49-F238E27FC236}">
                <ns2:creationId id="{C9A9646E-06B6-41C0-8650-FAF47326A101}"/>
              </a:ext>
            </a:extLst>
          </p:cNvPr>
          <p:cNvSpPr>
            <a:spLocks noGrp="1"/>
          </p:cNvSpPr>
          <p:nvPr/>
        </p:nvSpPr>
        <p:spPr>
          <a:xfrm>
            <a:off x="609600" y="289560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2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2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2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Владелец небольшой IT-компании</a:t>
            </a:r>
          </a:p>
        </p:txBody>
      </p:sp>
      <p:sp>
        <p:nvSpPr>
          <p:cNvPr id="6" name="reveal-1">
            <a:extLst>
              <a:ext uri="{FF2B5EF4-FFF2-40B4-BE49-F238E27FC236}">
                <ns2:creationId id="{13D200C3-33F4-4CAF-89FE-CC316749DF8E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6696075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9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Весь день в поездках и на совещаниях.</a:t>
            </a:r>
          </a:p>
          <a:p>
            <a:pPr algn="l">
              <a:defRPr sz="19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9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Не может отвечать на незнакомые номера.</a:t>
            </a:r>
          </a:p>
        </p:txBody>
      </p:sp>
      <p:sp>
        <p:nvSpPr>
          <p:cNvPr id="7" name="reveal-2">
            <a:extLst>
              <a:ext uri="{FF2B5EF4-FFF2-40B4-BE49-F238E27FC236}">
                <ns2:creationId id="{28D8307B-7988-4A11-92AF-09F2CADA27E7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66103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теряет бизнес</a:t>
            </a:r>
          </a:p>
        </p:txBody>
      </p:sp>
      <p:sp>
        <p:nvSpPr>
          <p:cNvPr id="8" name="reveal-2">
            <a:extLst>
              <a:ext uri="{FF2B5EF4-FFF2-40B4-BE49-F238E27FC236}">
                <ns2:creationId id="{38FB4B24-644D-4BD7-83FF-6B3D6117B7A8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6648450" cy="876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Обращение остаётся без ответа,</a:t>
            </a:r>
          </a:p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 потенциальный клиент может уйти.</a:t>
            </a:r>
          </a:p>
        </p:txBody>
      </p:sp>
    </p:spTree>
    <p:extLst>
      <p:ext uri="{BB962C8B-B14F-4D97-AF65-F5344CB8AC3E}">
        <ns4:creationId val="1141653752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6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7" name="">
            <a:extLst>
              <a:ext uri="{FF2B5EF4-FFF2-40B4-BE49-F238E27FC236}">
                <ns2:creationId id="{253358CF-63D2-4890-B12A-B183B44A4C06}"/>
              </a:ext>
            </a:extLst>
          </p:cNvPr>
          <p:cNvPicPr>
            <a:picLocks noChangeAspect="1"/>
          </p:cNvPicPr>
          <p:nvPr/>
        </p:nvPicPr>
        <p:blipFill>
          <a:blip r:embed="Re1c684fee71341b1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A30E8FD4-897C-455B-8EC5-7FD5742C84A7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3" name="title">
            <a:extLst>
              <a:ext uri="{FF2B5EF4-FFF2-40B4-BE49-F238E27FC236}">
                <ns2:creationId id="{D2530DE2-D23E-4C6D-B715-7E698277D9D3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получает бизнес после звонка</a:t>
            </a:r>
          </a:p>
        </p:txBody>
      </p:sp>
      <p:sp>
        <p:nvSpPr>
          <p:cNvPr id="4" name="subtitle">
            <a:extLst>
              <a:ext uri="{FF2B5EF4-FFF2-40B4-BE49-F238E27FC236}">
                <ns2:creationId id="{E04FD1B0-4B41-406A-A3A2-208DEA1CCED3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Агент принимает звонок, уточняет запрос и сохраняет итог</a:t>
            </a:r>
          </a:p>
        </p:txBody>
      </p:sp>
      <p:sp>
        <p:nvSpPr>
          <p:cNvPr id="5" name="reveal-01">
            <a:extLst>
              <a:ext uri="{FF2B5EF4-FFF2-40B4-BE49-F238E27FC236}">
                <ns2:creationId id="{28F763DC-1DD3-491E-85CB-2F58B00E37CC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01">
            <a:extLst>
              <a:ext uri="{FF2B5EF4-FFF2-40B4-BE49-F238E27FC236}">
                <ns2:creationId id="{B1BCB98F-1979-472F-8E02-BBE0B6CA8238}"/>
              </a:ext>
            </a:extLst>
          </p:cNvPr>
          <p:cNvSpPr>
            <a:spLocks noGrp="1"/>
          </p:cNvSpPr>
          <p:nvPr/>
        </p:nvSpPr>
        <p:spPr>
          <a:xfrm>
            <a:off x="1247775" y="2847975"/>
            <a:ext cx="55530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Принимает звонок</a:t>
            </a:r>
          </a:p>
        </p:txBody>
      </p:sp>
      <p:sp>
        <p:nvSpPr>
          <p:cNvPr id="7" name="reveal-01">
            <a:extLst>
              <a:ext uri="{FF2B5EF4-FFF2-40B4-BE49-F238E27FC236}">
                <ns2:creationId id="{25E95CAD-F4D7-417A-ACB1-2E3E2C01448A}"/>
              </a:ext>
            </a:extLst>
          </p:cNvPr>
          <p:cNvSpPr>
            <a:spLocks noGrp="1"/>
          </p:cNvSpPr>
          <p:nvPr/>
        </p:nvSpPr>
        <p:spPr>
          <a:xfrm>
            <a:off x="1247775" y="3324225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Начинает диалог, когда владелец занят</a:t>
            </a:r>
          </a:p>
        </p:txBody>
      </p:sp>
      <p:sp>
        <p:nvSpPr>
          <p:cNvPr id="8" name="reveal-02">
            <a:extLst>
              <a:ext uri="{FF2B5EF4-FFF2-40B4-BE49-F238E27FC236}">
                <ns2:creationId id="{0675AAAA-14D8-4E90-A512-D9843DA9CD6C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02">
            <a:extLst>
              <a:ext uri="{FF2B5EF4-FFF2-40B4-BE49-F238E27FC236}">
                <ns2:creationId id="{E45F411C-19AF-437F-B522-EC089947E3C1}"/>
              </a:ext>
            </a:extLst>
          </p:cNvPr>
          <p:cNvSpPr>
            <a:spLocks noGrp="1"/>
          </p:cNvSpPr>
          <p:nvPr/>
        </p:nvSpPr>
        <p:spPr>
          <a:xfrm>
            <a:off x="1247775" y="4143375"/>
            <a:ext cx="55530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Уточняет запрос</a:t>
            </a:r>
          </a:p>
        </p:txBody>
      </p:sp>
      <p:sp>
        <p:nvSpPr>
          <p:cNvPr id="10" name="reveal-02">
            <a:extLst>
              <a:ext uri="{FF2B5EF4-FFF2-40B4-BE49-F238E27FC236}">
                <ns2:creationId id="{5BBA9ECE-CEDE-4230-91F2-C3B21309FDDB}"/>
              </a:ext>
            </a:extLst>
          </p:cNvPr>
          <p:cNvSpPr>
            <a:spLocks noGrp="1"/>
          </p:cNvSpPr>
          <p:nvPr/>
        </p:nvSpPr>
        <p:spPr>
          <a:xfrm>
            <a:off x="1247775" y="4619625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Выясняет цель обращения и детали</a:t>
            </a:r>
          </a:p>
        </p:txBody>
      </p:sp>
      <p:sp>
        <p:nvSpPr>
          <p:cNvPr id="11" name="reveal-03">
            <a:extLst>
              <a:ext uri="{FF2B5EF4-FFF2-40B4-BE49-F238E27FC236}">
                <ns2:creationId id="{BB8A0001-FB0E-483E-8DE9-F6DE36A8049C}"/>
              </a:ext>
            </a:extLst>
          </p:cNvPr>
          <p:cNvSpPr>
            <a:spLocks noGrp="1"/>
          </p:cNvSpPr>
          <p:nvPr/>
        </p:nvSpPr>
        <p:spPr>
          <a:xfrm>
            <a:off x="609600" y="54673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03">
            <a:extLst>
              <a:ext uri="{FF2B5EF4-FFF2-40B4-BE49-F238E27FC236}">
                <ns2:creationId id="{C6FB16B9-5707-4D8C-AEE1-72FF4A80FDE2}"/>
              </a:ext>
            </a:extLst>
          </p:cNvPr>
          <p:cNvSpPr>
            <a:spLocks noGrp="1"/>
          </p:cNvSpPr>
          <p:nvPr/>
        </p:nvSpPr>
        <p:spPr>
          <a:xfrm>
            <a:off x="1247775" y="5438775"/>
            <a:ext cx="55530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Фиксирует результат</a:t>
            </a:r>
          </a:p>
        </p:txBody>
      </p:sp>
      <p:sp>
        <p:nvSpPr>
          <p:cNvPr id="13" name="reveal-03">
            <a:extLst>
              <a:ext uri="{FF2B5EF4-FFF2-40B4-BE49-F238E27FC236}">
                <ns2:creationId id="{07C2532D-A800-431C-AD1A-9DC0A134AA3C}"/>
              </a:ext>
            </a:extLst>
          </p:cNvPr>
          <p:cNvSpPr>
            <a:spLocks noGrp="1"/>
          </p:cNvSpPr>
          <p:nvPr/>
        </p:nvSpPr>
        <p:spPr>
          <a:xfrm>
            <a:off x="1247775" y="5915025"/>
            <a:ext cx="555307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Сохраняет итог для дальнейшей работы</a:t>
            </a:r>
          </a:p>
        </p:txBody>
      </p:sp>
      <p:sp>
        <p:nvSpPr>
          <p:cNvPr id="14" name="reveal-1">
            <a:extLst>
              <a:ext uri="{FF2B5EF4-FFF2-40B4-BE49-F238E27FC236}">
                <ns2:creationId id="{C63D958E-6B0C-4781-89FA-C45029064F10}"/>
              </a:ext>
            </a:extLst>
          </p:cNvPr>
          <p:cNvSpPr>
            <a:spLocks noGrp="1"/>
          </p:cNvSpPr>
          <p:nvPr/>
        </p:nvSpPr>
        <p:spPr>
          <a:xfrm>
            <a:off x="7800975" y="2847975"/>
            <a:ext cx="3781425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Что получает владелец</a:t>
            </a:r>
          </a:p>
        </p:txBody>
      </p:sp>
      <p:sp>
        <p:nvSpPr>
          <p:cNvPr id="15" name="reveal-2">
            <a:extLst>
              <a:ext uri="{FF2B5EF4-FFF2-40B4-BE49-F238E27FC236}">
                <ns2:creationId id="{EE09E68F-B711-4FB1-9E6E-7AEC8F878263}"/>
              </a:ext>
            </a:extLst>
          </p:cNvPr>
          <p:cNvSpPr>
            <a:spLocks noGrp="1"/>
          </p:cNvSpPr>
          <p:nvPr/>
        </p:nvSpPr>
        <p:spPr>
          <a:xfrm>
            <a:off x="7800975" y="3581400"/>
            <a:ext cx="3781425" cy="2095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Контакт клиента</a:t>
            </a:r>
          </a:p>
          <a:p>
            <a:r>
              <a:t/>
            </a:r>
          </a:p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Суть обращения</a:t>
            </a:r>
          </a:p>
          <a:p>
            <a:r>
              <a:t/>
            </a:r>
          </a:p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Следующее действие</a:t>
            </a:r>
          </a:p>
        </p:txBody>
      </p:sp>
      <p:sp>
        <p:nvSpPr>
          <p:cNvPr id="16" name="reveal-3">
            <a:extLst>
              <a:ext uri="{FF2B5EF4-FFF2-40B4-BE49-F238E27FC236}">
                <ns2:creationId id="{647E64FB-E2EE-4016-A844-71F76E2D8ACC}"/>
              </a:ext>
            </a:extLst>
          </p:cNvPr>
          <p:cNvSpPr>
            <a:spLocks noGrp="1"/>
          </p:cNvSpPr>
          <p:nvPr/>
        </p:nvSpPr>
        <p:spPr>
          <a:xfrm>
            <a:off x="7800975" y="5962650"/>
            <a:ext cx="37814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Сложный вопрос — человеку</a:t>
            </a:r>
          </a:p>
        </p:txBody>
      </p:sp>
    </p:spTree>
    <p:extLst>
      <p:ext uri="{BB962C8B-B14F-4D97-AF65-F5344CB8AC3E}">
        <ns4:creationId val="64754580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36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36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62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62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62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221D29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14" name="reveal-4">
            <a:extLst>
              <a:ext uri="{FF2B5EF4-FFF2-40B4-BE49-F238E27FC236}">
                <ns2:creationId id="{E2C2CAE8-8BD0-4C29-858A-ED2F8CAED619}"/>
              </a:ext>
            </a:extLst>
          </p:cNvPr>
          <p:cNvCxnSpPr>
            <a:stCxn id="8" idx="3"/>
            <a:endCxn id="9" idx="2"/>
          </p:cNvCxnSpPr>
          <p:nvPr/>
        </p:nvCxnSpPr>
        <p:spPr>
          <a:xfrm flipV="1">
            <a:off x="8010525" y="4124325"/>
            <a:ext cx="2238375" cy="1123950"/>
          </a:xfrm>
          <a:prstGeom prst="bentConnector2">
            <a:avLst/>
          </a:prstGeom>
          <a:ln w="14288">
            <a:solidFill>
              <a:srgbClr val="B9B4C2"/>
            </a:solidFill>
            <a:tailEnd type="triangle" w="sm" len="sm"/>
          </a:ln>
        </p:spPr>
      </p:cxnSp>
      <p:cxnSp>
        <p:nvCxnSpPr>
          <p:cNvPr id="13" name="reveal-3">
            <a:extLst>
              <a:ext uri="{FF2B5EF4-FFF2-40B4-BE49-F238E27FC236}">
                <ns2:creationId id="{C007AFCE-2D89-469C-B7DB-B60E4078CA4F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553200" y="3829050"/>
            <a:ext cx="0" cy="904875"/>
          </a:xfrm>
          <a:prstGeom prst="straightConnector1">
            <a:avLst/>
          </a:prstGeom>
          <a:ln w="14288">
            <a:solidFill>
              <a:srgbClr val="B9B4C2"/>
            </a:solidFill>
            <a:tailEnd type="triangle" w="sm" len="sm"/>
          </a:ln>
        </p:spPr>
      </p:cxnSp>
      <p:cxnSp>
        <p:nvCxnSpPr>
          <p:cNvPr id="12" name="reveal-4">
            <a:extLst>
              <a:ext uri="{FF2B5EF4-FFF2-40B4-BE49-F238E27FC236}">
                <ns2:creationId id="{36637ED5-A918-4D92-B63C-10A06B81A9D8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8010525" y="3314700"/>
            <a:ext cx="904875" cy="323850"/>
          </a:xfrm>
          <a:prstGeom prst="bentConnector3">
            <a:avLst>
              <a:gd name="adj1" fmla="val 50000"/>
            </a:avLst>
          </a:prstGeom>
          <a:ln w="14288">
            <a:solidFill>
              <a:srgbClr val="B9B4C2"/>
            </a:solidFill>
            <a:tailEnd type="triangle" w="sm" len="sm"/>
          </a:ln>
        </p:spPr>
      </p:cxnSp>
      <p:cxnSp>
        <p:nvCxnSpPr>
          <p:cNvPr id="11" name="reveal-2">
            <a:extLst>
              <a:ext uri="{FF2B5EF4-FFF2-40B4-BE49-F238E27FC236}">
                <ns2:creationId id="{41C27E36-E495-4509-88F2-A493BF9507F3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4486275" y="3314700"/>
            <a:ext cx="609600" cy="323850"/>
          </a:xfrm>
          <a:prstGeom prst="bentConnector3">
            <a:avLst>
              <a:gd name="adj1" fmla="val 50000"/>
            </a:avLst>
          </a:prstGeom>
          <a:ln w="14288">
            <a:solidFill>
              <a:srgbClr val="B9B4C2"/>
            </a:solidFill>
            <a:tailEnd type="triangle" w="sm" len="sm"/>
          </a:ln>
        </p:spPr>
      </p:cxnSp>
      <p:cxnSp>
        <p:nvCxnSpPr>
          <p:cNvPr id="10" name="reveal-1">
            <a:extLst>
              <a:ext uri="{FF2B5EF4-FFF2-40B4-BE49-F238E27FC236}">
                <ns2:creationId id="{659EDBDB-B4ED-4AA8-ABFA-D7997352DB3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190750" y="3638550"/>
            <a:ext cx="409575" cy="0"/>
          </a:xfrm>
          <a:prstGeom prst="straightConnector1">
            <a:avLst/>
          </a:prstGeom>
          <a:ln w="14288">
            <a:solidFill>
              <a:srgbClr val="B9B4C2"/>
            </a:solidFill>
            <a:tailEnd type="triangle" w="sm" len="sm"/>
          </a:ln>
        </p:spPr>
      </p:cxnSp>
      <p:pic>
        <p:nvPicPr>
          <p:cNvPr id="17" name="">
            <a:extLst>
              <a:ext uri="{FF2B5EF4-FFF2-40B4-BE49-F238E27FC236}">
                <ns2:creationId id="{83263B3B-C378-46DB-AB59-44ECDD7FA57C}"/>
              </a:ext>
            </a:extLst>
          </p:cNvPr>
          <p:cNvPicPr>
            <a:picLocks noChangeAspect="1"/>
          </p:cNvPicPr>
          <p:nvPr/>
        </p:nvPicPr>
        <p:blipFill>
          <a:blip r:embed="R7db4d928023e4041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B95EF0B5-B4A9-4464-A814-8C341B818D51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04</a:t>
            </a:r>
          </a:p>
        </p:txBody>
      </p:sp>
      <p:sp>
        <p:nvSpPr>
          <p:cNvPr id="3" name="title">
            <a:extLst>
              <a:ext uri="{FF2B5EF4-FFF2-40B4-BE49-F238E27FC236}">
                <ns2:creationId id="{53522554-4462-4873-8C5C-8DFC9DDE1EF0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Каскад моделей управляет нагрузкой</a:t>
            </a:r>
          </a:p>
        </p:txBody>
      </p:sp>
      <p:sp>
        <p:nvSpPr>
          <p:cNvPr id="4" name="subtitle">
            <a:extLst>
              <a:ext uri="{FF2B5EF4-FFF2-40B4-BE49-F238E27FC236}">
                <ns2:creationId id="{21148F22-89DE-44EA-BD4B-379CFFDACD24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Лёгкая модель решает типовые задачи. Тяжёлая подключается к сложным.</a:t>
            </a:r>
          </a:p>
        </p:txBody>
      </p:sp>
      <p:sp>
        <p:nvSpPr>
          <p:cNvPr id="5" name="reveal-1">
            <a:extLst>
              <a:ext uri="{FF2B5EF4-FFF2-40B4-BE49-F238E27FC236}">
                <ns2:creationId id="{C1C3516A-A723-4F09-8722-DAE7585EB4A8}"/>
              </a:ext>
            </a:extLst>
          </p:cNvPr>
          <p:cNvSpPr>
            <a:spLocks noGrp="1"/>
          </p:cNvSpPr>
          <p:nvPr/>
        </p:nvSpPr>
        <p:spPr>
          <a:xfrm>
            <a:off x="609600" y="3152775"/>
            <a:ext cx="1581150" cy="971550"/>
          </a:xfrm>
          <a:prstGeom prst="roundRect">
            <a:avLst>
              <a:gd name="adj" fmla="val 5882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Речь</a:t>
            </a:r>
          </a:p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клиента</a:t>
            </a:r>
          </a:p>
        </p:txBody>
      </p:sp>
      <p:sp>
        <p:nvSpPr>
          <p:cNvPr id="6" name="reveal-1">
            <a:extLst>
              <a:ext uri="{FF2B5EF4-FFF2-40B4-BE49-F238E27FC236}">
                <ns2:creationId id="{856316FF-ECEB-47A8-95C5-3D0A2839333A}"/>
              </a:ext>
            </a:extLst>
          </p:cNvPr>
          <p:cNvSpPr>
            <a:spLocks noGrp="1"/>
          </p:cNvSpPr>
          <p:nvPr/>
        </p:nvSpPr>
        <p:spPr>
          <a:xfrm>
            <a:off x="2600325" y="3152775"/>
            <a:ext cx="1885950" cy="971550"/>
          </a:xfrm>
          <a:prstGeom prst="roundRect">
            <a:avLst>
              <a:gd name="adj" fmla="val 5882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STT</a:t>
            </a:r>
          </a:p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Речь в текст</a:t>
            </a:r>
          </a:p>
        </p:txBody>
      </p:sp>
      <p:sp>
        <p:nvSpPr>
          <p:cNvPr id="7" name="reveal-2">
            <a:extLst>
              <a:ext uri="{FF2B5EF4-FFF2-40B4-BE49-F238E27FC236}">
                <ns2:creationId id="{61FEE7F9-AE7A-4BEE-9488-9846CB693453}"/>
              </a:ext>
            </a:extLst>
          </p:cNvPr>
          <p:cNvSpPr>
            <a:spLocks noGrp="1"/>
          </p:cNvSpPr>
          <p:nvPr/>
        </p:nvSpPr>
        <p:spPr>
          <a:xfrm>
            <a:off x="5095875" y="2800350"/>
            <a:ext cx="2914650" cy="1028700"/>
          </a:xfrm>
          <a:prstGeom prst="roundRect">
            <a:avLst>
              <a:gd name="adj" fmla="val 5556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Лёгкая LLM</a:t>
            </a:r>
          </a:p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Адрес, график, FAQ</a:t>
            </a:r>
          </a:p>
        </p:txBody>
      </p:sp>
      <p:sp>
        <p:nvSpPr>
          <p:cNvPr id="8" name="reveal-3">
            <a:extLst>
              <a:ext uri="{FF2B5EF4-FFF2-40B4-BE49-F238E27FC236}">
                <ns2:creationId id="{AA0F0EB8-7B07-4EB7-9A1A-C8645EA2FE7A}"/>
              </a:ext>
            </a:extLst>
          </p:cNvPr>
          <p:cNvSpPr>
            <a:spLocks noGrp="1"/>
          </p:cNvSpPr>
          <p:nvPr/>
        </p:nvSpPr>
        <p:spPr>
          <a:xfrm>
            <a:off x="5095875" y="4733925"/>
            <a:ext cx="2914650" cy="1028700"/>
          </a:xfrm>
          <a:prstGeom prst="roundRect">
            <a:avLst>
              <a:gd name="adj" fmla="val 5556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Тяжёлая LLM</a:t>
            </a:r>
          </a:p>
          <a:p>
            <a:pPr algn="ctr">
              <a:defRPr sz="18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Детали, сложный запрос</a:t>
            </a:r>
          </a:p>
        </p:txBody>
      </p:sp>
      <p:sp>
        <p:nvSpPr>
          <p:cNvPr id="9" name="reveal-4">
            <a:extLst>
              <a:ext uri="{FF2B5EF4-FFF2-40B4-BE49-F238E27FC236}">
                <ns2:creationId id="{5C013B41-4D8B-44EF-AEAC-DC8BCA4C1DA9}"/>
              </a:ext>
            </a:extLst>
          </p:cNvPr>
          <p:cNvSpPr>
            <a:spLocks noGrp="1"/>
          </p:cNvSpPr>
          <p:nvPr/>
        </p:nvSpPr>
        <p:spPr>
          <a:xfrm>
            <a:off x="8915400" y="3152775"/>
            <a:ext cx="2667000" cy="971550"/>
          </a:xfrm>
          <a:prstGeom prst="roundRect">
            <a:avLst>
              <a:gd name="adj" fmla="val 5882"/>
            </a:avLst>
          </a:prstGeom>
          <a:solidFill>
            <a:srgbClr val="2F2838"/>
          </a:solidFill>
          <a:ln w="9525">
            <a:solidFill>
              <a:srgbClr val="B9B4C2"/>
            </a:solidFill>
          </a:ln>
        </p:spPr>
        <p:txBody>
          <a:bodyPr lIns="133350" tIns="133350" rIns="133350" bIns="133350" anchor="ctr"/>
          <a:lstStyle>
            <a:def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TTS</a:t>
            </a:r>
          </a:p>
          <a:p>
            <a:pPr algn="ctr">
              <a:defRPr sz="18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Голосовой ответ</a:t>
            </a:r>
          </a:p>
        </p:txBody>
      </p:sp>
      <p:sp>
        <p:nvSpPr>
          <p:cNvPr id="15" name="reveal-3">
            <a:extLst>
              <a:ext uri="{FF2B5EF4-FFF2-40B4-BE49-F238E27FC236}">
                <ns2:creationId id="{585AADB2-6A8C-44EF-B6E8-16BD6E539C6F}"/>
              </a:ext>
            </a:extLst>
          </p:cNvPr>
          <p:cNvSpPr>
            <a:spLocks noGrp="1"/>
          </p:cNvSpPr>
          <p:nvPr/>
        </p:nvSpPr>
        <p:spPr>
          <a:xfrm>
            <a:off x="6724650" y="4010025"/>
            <a:ext cx="20955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Если требуется</a:t>
            </a:r>
          </a:p>
          <a:p>
            <a:pPr algn="l">
              <a:defRPr sz="15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5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глубокий анализ</a:t>
            </a:r>
          </a:p>
        </p:txBody>
      </p:sp>
      <p:sp>
        <p:nvSpPr>
          <p:cNvPr id="16" name="static-disclosure">
            <a:extLst>
              <a:ext uri="{FF2B5EF4-FFF2-40B4-BE49-F238E27FC236}">
                <ns2:creationId id="{B4CC3C42-935E-41B8-AC36-66D80EFCF8D4}"/>
              </a:ext>
            </a:extLst>
          </p:cNvPr>
          <p:cNvSpPr>
            <a:spLocks noGrp="1"/>
          </p:cNvSpPr>
          <p:nvPr/>
        </p:nvSpPr>
        <p:spPr>
          <a:xfrm>
            <a:off x="609600" y="6286500"/>
            <a:ext cx="1097280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Цель пилота: измерить качество ответа и расход вычислительных ресурсов</a:t>
            </a:r>
          </a:p>
        </p:txBody>
      </p:sp>
    </p:spTree>
    <p:extLst>
      <p:ext uri="{BB962C8B-B14F-4D97-AF65-F5344CB8AC3E}">
        <ns4:creationId val="170143617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6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62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62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88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3" name="">
            <a:extLst>
              <a:ext uri="{FF2B5EF4-FFF2-40B4-BE49-F238E27FC236}">
                <ns2:creationId id="{F87640B8-5D2D-485D-9925-C0CFA5F22374}"/>
              </a:ext>
            </a:extLst>
          </p:cNvPr>
          <p:cNvPicPr>
            <a:picLocks noChangeAspect="1"/>
          </p:cNvPicPr>
          <p:nvPr/>
        </p:nvPicPr>
        <p:blipFill>
          <a:blip r:embed="R388e862e446a4328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9F158D1F-182D-4B9D-8855-9AC83A334C45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05</a:t>
            </a:r>
          </a:p>
        </p:txBody>
      </p:sp>
      <p:sp>
        <p:nvSpPr>
          <p:cNvPr id="3" name="title">
            <a:extLst>
              <a:ext uri="{FF2B5EF4-FFF2-40B4-BE49-F238E27FC236}">
                <ns2:creationId id="{B14BDA18-4264-47DB-881C-E36E1E3C828F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Путь клиента и точки доверия</a:t>
            </a:r>
          </a:p>
        </p:txBody>
      </p:sp>
      <p:sp>
        <p:nvSpPr>
          <p:cNvPr id="4" name="subtitle">
            <a:extLst>
              <a:ext uri="{FF2B5EF4-FFF2-40B4-BE49-F238E27FC236}">
                <ns2:creationId id="{7D8D19B0-89F0-4303-AA78-1F88CCB05FBD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Шесть этапов: от первого интереса до регулярного использования</a:t>
            </a:r>
          </a:p>
        </p:txBody>
      </p:sp>
      <p:sp>
        <p:nvSpPr>
          <p:cNvPr id="5" name="reveal-1">
            <a:extLst>
              <a:ext uri="{FF2B5EF4-FFF2-40B4-BE49-F238E27FC236}">
                <ns2:creationId id="{9A041581-1389-45BE-9904-ECA164465924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1">
            <a:extLst>
              <a:ext uri="{FF2B5EF4-FFF2-40B4-BE49-F238E27FC236}">
                <ns2:creationId id="{D30C9C07-B175-4F70-A210-DC173BD1CC47}"/>
              </a:ext>
            </a:extLst>
          </p:cNvPr>
          <p:cNvSpPr>
            <a:spLocks noGrp="1"/>
          </p:cNvSpPr>
          <p:nvPr/>
        </p:nvSpPr>
        <p:spPr>
          <a:xfrm>
            <a:off x="1143000" y="294322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Понять ценность</a:t>
            </a:r>
          </a:p>
        </p:txBody>
      </p:sp>
      <p:sp>
        <p:nvSpPr>
          <p:cNvPr id="7" name="reveal-1">
            <a:extLst>
              <a:ext uri="{FF2B5EF4-FFF2-40B4-BE49-F238E27FC236}">
                <ns2:creationId id="{3E393CE1-CE3F-4E21-B9D9-C949AF3F04D1}"/>
              </a:ext>
            </a:extLst>
          </p:cNvPr>
          <p:cNvSpPr>
            <a:spLocks noGrp="1"/>
          </p:cNvSpPr>
          <p:nvPr/>
        </p:nvSpPr>
        <p:spPr>
          <a:xfrm>
            <a:off x="1143000" y="349567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Показать, какие обращения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помогает сохранить агент</a:t>
            </a:r>
          </a:p>
        </p:txBody>
      </p:sp>
      <p:sp>
        <p:nvSpPr>
          <p:cNvPr id="8" name="reveal-2">
            <a:extLst>
              <a:ext uri="{FF2B5EF4-FFF2-40B4-BE49-F238E27FC236}">
                <ns2:creationId id="{6271C6DF-BADA-4BAC-BE7A-1BD990983876}"/>
              </a:ext>
            </a:extLst>
          </p:cNvPr>
          <p:cNvSpPr>
            <a:spLocks noGrp="1"/>
          </p:cNvSpPr>
          <p:nvPr/>
        </p:nvSpPr>
        <p:spPr>
          <a:xfrm>
            <a:off x="4410075" y="29718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2">
            <a:extLst>
              <a:ext uri="{FF2B5EF4-FFF2-40B4-BE49-F238E27FC236}">
                <ns2:creationId id="{CA25C1BF-7BC0-4CDD-AA53-9EDC71BC133E}"/>
              </a:ext>
            </a:extLst>
          </p:cNvPr>
          <p:cNvSpPr>
            <a:spLocks noGrp="1"/>
          </p:cNvSpPr>
          <p:nvPr/>
        </p:nvSpPr>
        <p:spPr>
          <a:xfrm>
            <a:off x="4943475" y="294322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Попробовать</a:t>
            </a:r>
          </a:p>
        </p:txBody>
      </p:sp>
      <p:sp>
        <p:nvSpPr>
          <p:cNvPr id="10" name="reveal-2">
            <a:extLst>
              <a:ext uri="{FF2B5EF4-FFF2-40B4-BE49-F238E27FC236}">
                <ns2:creationId id="{571F406D-C087-4E20-87DB-FFCDB4FD6996}"/>
              </a:ext>
            </a:extLst>
          </p:cNvPr>
          <p:cNvSpPr>
            <a:spLocks noGrp="1"/>
          </p:cNvSpPr>
          <p:nvPr/>
        </p:nvSpPr>
        <p:spPr>
          <a:xfrm>
            <a:off x="4943475" y="349567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Демо и пробный период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для оценки пользы</a:t>
            </a:r>
          </a:p>
        </p:txBody>
      </p:sp>
      <p:sp>
        <p:nvSpPr>
          <p:cNvPr id="11" name="reveal-3">
            <a:extLst>
              <a:ext uri="{FF2B5EF4-FFF2-40B4-BE49-F238E27FC236}">
                <ns2:creationId id="{43119276-2FCC-4311-9030-A9640F37646D}"/>
              </a:ext>
            </a:extLst>
          </p:cNvPr>
          <p:cNvSpPr>
            <a:spLocks noGrp="1"/>
          </p:cNvSpPr>
          <p:nvPr/>
        </p:nvSpPr>
        <p:spPr>
          <a:xfrm>
            <a:off x="8210550" y="297180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3">
            <a:extLst>
              <a:ext uri="{FF2B5EF4-FFF2-40B4-BE49-F238E27FC236}">
                <ns2:creationId id="{A3083F1F-F21D-4442-8B88-645FD2E8CC8C}"/>
              </a:ext>
            </a:extLst>
          </p:cNvPr>
          <p:cNvSpPr>
            <a:spLocks noGrp="1"/>
          </p:cNvSpPr>
          <p:nvPr/>
        </p:nvSpPr>
        <p:spPr>
          <a:xfrm>
            <a:off x="8743950" y="294322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Подключить</a:t>
            </a:r>
          </a:p>
        </p:txBody>
      </p:sp>
      <p:sp>
        <p:nvSpPr>
          <p:cNvPr id="13" name="reveal-3">
            <a:extLst>
              <a:ext uri="{FF2B5EF4-FFF2-40B4-BE49-F238E27FC236}">
                <ns2:creationId id="{F8231175-5FDD-4C3D-8614-A7A7C4D27BC0}"/>
              </a:ext>
            </a:extLst>
          </p:cNvPr>
          <p:cNvSpPr>
            <a:spLocks noGrp="1"/>
          </p:cNvSpPr>
          <p:nvPr/>
        </p:nvSpPr>
        <p:spPr>
          <a:xfrm>
            <a:off x="8743950" y="349567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Понятные настройки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условия работы с данными</a:t>
            </a:r>
          </a:p>
        </p:txBody>
      </p:sp>
      <p:sp>
        <p:nvSpPr>
          <p:cNvPr id="14" name="reveal-4">
            <a:extLst>
              <a:ext uri="{FF2B5EF4-FFF2-40B4-BE49-F238E27FC236}">
                <ns2:creationId id="{7BB8175C-6AE4-43AD-BE1B-482F6BD94C25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04</a:t>
            </a:r>
          </a:p>
        </p:txBody>
      </p:sp>
      <p:sp>
        <p:nvSpPr>
          <p:cNvPr id="15" name="reveal-4">
            <a:extLst>
              <a:ext uri="{FF2B5EF4-FFF2-40B4-BE49-F238E27FC236}">
                <ns2:creationId id="{9DBA5436-CA8B-4A72-A309-BDC2B20C979F}"/>
              </a:ext>
            </a:extLst>
          </p:cNvPr>
          <p:cNvSpPr>
            <a:spLocks noGrp="1"/>
          </p:cNvSpPr>
          <p:nvPr/>
        </p:nvSpPr>
        <p:spPr>
          <a:xfrm>
            <a:off x="1143000" y="494347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Проверить точность</a:t>
            </a:r>
          </a:p>
        </p:txBody>
      </p:sp>
      <p:sp>
        <p:nvSpPr>
          <p:cNvPr id="16" name="reveal-4">
            <a:extLst>
              <a:ext uri="{FF2B5EF4-FFF2-40B4-BE49-F238E27FC236}">
                <ns2:creationId id="{D58F27D6-B2C6-49B3-8794-1AAC9C9D9F7E}"/>
              </a:ext>
            </a:extLst>
          </p:cNvPr>
          <p:cNvSpPr>
            <a:spLocks noGrp="1"/>
          </p:cNvSpPr>
          <p:nvPr/>
        </p:nvSpPr>
        <p:spPr>
          <a:xfrm>
            <a:off x="1143000" y="549592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Примеры диалогов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ручная коррекция</a:t>
            </a:r>
          </a:p>
        </p:txBody>
      </p:sp>
      <p:sp>
        <p:nvSpPr>
          <p:cNvPr id="17" name="reveal-5">
            <a:extLst>
              <a:ext uri="{FF2B5EF4-FFF2-40B4-BE49-F238E27FC236}">
                <ns2:creationId id="{353DF32E-5AFA-4BC3-9B2C-E1709C22E7F4}"/>
              </a:ext>
            </a:extLst>
          </p:cNvPr>
          <p:cNvSpPr>
            <a:spLocks noGrp="1"/>
          </p:cNvSpPr>
          <p:nvPr/>
        </p:nvSpPr>
        <p:spPr>
          <a:xfrm>
            <a:off x="4410075" y="49720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05</a:t>
            </a:r>
          </a:p>
        </p:txBody>
      </p:sp>
      <p:sp>
        <p:nvSpPr>
          <p:cNvPr id="18" name="reveal-5">
            <a:extLst>
              <a:ext uri="{FF2B5EF4-FFF2-40B4-BE49-F238E27FC236}">
                <ns2:creationId id="{C4826BE0-2096-40FE-B70E-FD9EA15BF81C}"/>
              </a:ext>
            </a:extLst>
          </p:cNvPr>
          <p:cNvSpPr>
            <a:spLocks noGrp="1"/>
          </p:cNvSpPr>
          <p:nvPr/>
        </p:nvSpPr>
        <p:spPr>
          <a:xfrm>
            <a:off x="4943475" y="494347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Сохранить контроль</a:t>
            </a:r>
          </a:p>
        </p:txBody>
      </p:sp>
      <p:sp>
        <p:nvSpPr>
          <p:cNvPr id="19" name="reveal-5">
            <a:extLst>
              <a:ext uri="{FF2B5EF4-FFF2-40B4-BE49-F238E27FC236}">
                <ns2:creationId id="{672A7126-4F54-4A3F-8034-527AC1852ADC}"/>
              </a:ext>
            </a:extLst>
          </p:cNvPr>
          <p:cNvSpPr>
            <a:spLocks noGrp="1"/>
          </p:cNvSpPr>
          <p:nvPr/>
        </p:nvSpPr>
        <p:spPr>
          <a:xfrm>
            <a:off x="4943475" y="549592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История обращений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перевод на человека</a:t>
            </a:r>
          </a:p>
        </p:txBody>
      </p:sp>
      <p:sp>
        <p:nvSpPr>
          <p:cNvPr id="20" name="reveal-6">
            <a:extLst>
              <a:ext uri="{FF2B5EF4-FFF2-40B4-BE49-F238E27FC236}">
                <ns2:creationId id="{86A6192F-CA4C-4A77-B410-8841FE37B436}"/>
              </a:ext>
            </a:extLst>
          </p:cNvPr>
          <p:cNvSpPr>
            <a:spLocks noGrp="1"/>
          </p:cNvSpPr>
          <p:nvPr/>
        </p:nvSpPr>
        <p:spPr>
          <a:xfrm>
            <a:off x="8210550" y="4972050"/>
            <a:ext cx="4191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06</a:t>
            </a:r>
          </a:p>
        </p:txBody>
      </p:sp>
      <p:sp>
        <p:nvSpPr>
          <p:cNvPr id="21" name="reveal-6">
            <a:extLst>
              <a:ext uri="{FF2B5EF4-FFF2-40B4-BE49-F238E27FC236}">
                <ns2:creationId id="{86A6CF8C-7C62-4C60-872B-F66EE6948F72}"/>
              </a:ext>
            </a:extLst>
          </p:cNvPr>
          <p:cNvSpPr>
            <a:spLocks noGrp="1"/>
          </p:cNvSpPr>
          <p:nvPr/>
        </p:nvSpPr>
        <p:spPr>
          <a:xfrm>
            <a:off x="8743950" y="4943475"/>
            <a:ext cx="3000375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Расширить сценарии</a:t>
            </a:r>
          </a:p>
        </p:txBody>
      </p:sp>
      <p:sp>
        <p:nvSpPr>
          <p:cNvPr id="22" name="reveal-6">
            <a:extLst>
              <a:ext uri="{FF2B5EF4-FFF2-40B4-BE49-F238E27FC236}">
                <ns2:creationId id="{FAA434B1-9665-4940-8C18-5AB3DD160BBF}"/>
              </a:ext>
            </a:extLst>
          </p:cNvPr>
          <p:cNvSpPr>
            <a:spLocks noGrp="1"/>
          </p:cNvSpPr>
          <p:nvPr/>
        </p:nvSpPr>
        <p:spPr>
          <a:xfrm>
            <a:off x="8743950" y="5495925"/>
            <a:ext cx="3000375" cy="885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CRM / email и аналитика</a:t>
            </a:r>
          </a:p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после проверки в пилоте</a:t>
            </a:r>
          </a:p>
        </p:txBody>
      </p:sp>
    </p:spTree>
    <p:extLst>
      <p:ext uri="{BB962C8B-B14F-4D97-AF65-F5344CB8AC3E}">
        <ns4:creationId val="357745581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36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62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2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88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88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880"/>
                      </p:stCondLst>
                      <p:childTnLst>
                        <p:par>
                          <p:cTn id="4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140"/>
                      </p:stCondLst>
                      <p:childTnLst>
                        <p:par>
                          <p:cTn id="5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4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1140"/>
                      </p:stCondLst>
                      <p:childTnLst>
                        <p:par>
                          <p:cTn id="5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1140"/>
                      </p:stCondLst>
                      <p:childTnLst>
                        <p:par>
                          <p:cTn id="6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2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1400"/>
                      </p:stCondLst>
                      <p:childTnLst>
                        <p:par>
                          <p:cTn id="6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6" dur="45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1400"/>
                      </p:stCondLst>
                      <p:childTnLst>
                        <p:par>
                          <p:cTn id="6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0" dur="45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1400"/>
                      </p:stCondLst>
                      <p:childTnLst>
                        <p:par>
                          <p:cTn id="7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4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221D29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7E512BB2-0D85-489F-9D9B-3BAC478A27F3}"/>
              </a:ext>
            </a:extLst>
          </p:cNvPr>
          <p:cNvPicPr>
            <a:picLocks noChangeAspect="1"/>
          </p:cNvPicPr>
          <p:nvPr/>
        </p:nvPicPr>
        <p:blipFill>
          <a:blip r:embed="R5dc9835b5cda4bce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E391800E-F1F7-4C9B-BBB7-CC93BD0CF78D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06</a:t>
            </a:r>
          </a:p>
        </p:txBody>
      </p:sp>
      <p:sp>
        <p:nvSpPr>
          <p:cNvPr id="3" name="title">
            <a:extLst>
              <a:ext uri="{FF2B5EF4-FFF2-40B4-BE49-F238E27FC236}">
                <ns2:creationId id="{34542D7F-3C26-45B1-BDB6-49DA33C1AF96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Подключение в привычном приложении</a:t>
            </a:r>
          </a:p>
        </p:txBody>
      </p:sp>
      <p:sp>
        <p:nvSpPr>
          <p:cNvPr id="4" name="subtitle">
            <a:extLst>
              <a:ext uri="{FF2B5EF4-FFF2-40B4-BE49-F238E27FC236}">
                <ns2:creationId id="{A36D8B8E-EB53-4658-81F2-C13046493D01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Предлагаемая интеграция с «Мой МТС»</a:t>
            </a:r>
          </a:p>
        </p:txBody>
      </p:sp>
      <p:sp>
        <p:nvSpPr>
          <p:cNvPr id="5" name="reveal-01">
            <a:extLst>
              <a:ext uri="{FF2B5EF4-FFF2-40B4-BE49-F238E27FC236}">
                <ns2:creationId id="{0EC2D54B-CF5F-4A17-A0E5-C0FC92EA5468}"/>
              </a:ext>
            </a:extLst>
          </p:cNvPr>
          <p:cNvSpPr>
            <a:spLocks noGrp="1"/>
          </p:cNvSpPr>
          <p:nvPr/>
        </p:nvSpPr>
        <p:spPr>
          <a:xfrm>
            <a:off x="609600" y="2943225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6" name="reveal-01">
            <a:extLst>
              <a:ext uri="{FF2B5EF4-FFF2-40B4-BE49-F238E27FC236}">
                <ns2:creationId id="{67FCFB71-C94D-42B3-AA44-37CB29009E33}"/>
              </a:ext>
            </a:extLst>
          </p:cNvPr>
          <p:cNvSpPr>
            <a:spLocks noGrp="1"/>
          </p:cNvSpPr>
          <p:nvPr/>
        </p:nvSpPr>
        <p:spPr>
          <a:xfrm>
            <a:off x="1247775" y="2914650"/>
            <a:ext cx="5314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Активировать услугу</a:t>
            </a:r>
          </a:p>
        </p:txBody>
      </p:sp>
      <p:sp>
        <p:nvSpPr>
          <p:cNvPr id="7" name="reveal-01">
            <a:extLst>
              <a:ext uri="{FF2B5EF4-FFF2-40B4-BE49-F238E27FC236}">
                <ns2:creationId id="{DFEC5A3F-6BD6-4F83-BE85-6B5409DE82C5}"/>
              </a:ext>
            </a:extLst>
          </p:cNvPr>
          <p:cNvSpPr>
            <a:spLocks noGrp="1"/>
          </p:cNvSpPr>
          <p:nvPr/>
        </p:nvSpPr>
        <p:spPr>
          <a:xfrm>
            <a:off x="1247775" y="3390900"/>
            <a:ext cx="53149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В приложении оператора,</a:t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на существующем номере</a:t>
            </a:r>
          </a:p>
        </p:txBody>
      </p:sp>
      <p:sp>
        <p:nvSpPr>
          <p:cNvPr id="8" name="reveal-02">
            <a:extLst>
              <a:ext uri="{FF2B5EF4-FFF2-40B4-BE49-F238E27FC236}">
                <ns2:creationId id="{1F89F86E-58CC-4A2C-9DF9-655AC392A59D}"/>
              </a:ext>
            </a:extLst>
          </p:cNvPr>
          <p:cNvSpPr>
            <a:spLocks noGrp="1"/>
          </p:cNvSpPr>
          <p:nvPr/>
        </p:nvSpPr>
        <p:spPr>
          <a:xfrm>
            <a:off x="609600" y="4238625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9" name="reveal-02">
            <a:extLst>
              <a:ext uri="{FF2B5EF4-FFF2-40B4-BE49-F238E27FC236}">
                <ns2:creationId id="{6BA3382C-DC93-4E67-82C3-D902B560F2E0}"/>
              </a:ext>
            </a:extLst>
          </p:cNvPr>
          <p:cNvSpPr>
            <a:spLocks noGrp="1"/>
          </p:cNvSpPr>
          <p:nvPr/>
        </p:nvSpPr>
        <p:spPr>
          <a:xfrm>
            <a:off x="1247775" y="4210050"/>
            <a:ext cx="5314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Выбрать сценарий</a:t>
            </a:r>
          </a:p>
        </p:txBody>
      </p:sp>
      <p:sp>
        <p:nvSpPr>
          <p:cNvPr id="10" name="reveal-02">
            <a:extLst>
              <a:ext uri="{FF2B5EF4-FFF2-40B4-BE49-F238E27FC236}">
                <ns2:creationId id="{8B6FC817-AB66-4D6F-898E-A1F1885DF943}"/>
              </a:ext>
            </a:extLst>
          </p:cNvPr>
          <p:cNvSpPr>
            <a:spLocks noGrp="1"/>
          </p:cNvSpPr>
          <p:nvPr/>
        </p:nvSpPr>
        <p:spPr>
          <a:xfrm>
            <a:off x="1247775" y="4686300"/>
            <a:ext cx="53149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Указать правила обработки</a:t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 передачи звонков</a:t>
            </a:r>
          </a:p>
        </p:txBody>
      </p:sp>
      <p:sp>
        <p:nvSpPr>
          <p:cNvPr id="11" name="reveal-03">
            <a:extLst>
              <a:ext uri="{FF2B5EF4-FFF2-40B4-BE49-F238E27FC236}">
                <ns2:creationId id="{287166A0-3F04-4E59-B3D3-5763ACBFB108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2" name="reveal-03">
            <a:extLst>
              <a:ext uri="{FF2B5EF4-FFF2-40B4-BE49-F238E27FC236}">
                <ns2:creationId id="{D6AD712E-3B2D-4308-881B-BC01DABBA85B}"/>
              </a:ext>
            </a:extLst>
          </p:cNvPr>
          <p:cNvSpPr>
            <a:spLocks noGrp="1"/>
          </p:cNvSpPr>
          <p:nvPr/>
        </p:nvSpPr>
        <p:spPr>
          <a:xfrm>
            <a:off x="1247775" y="5505450"/>
            <a:ext cx="5314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Сделать пробный звонок</a:t>
            </a:r>
          </a:p>
        </p:txBody>
      </p:sp>
      <p:sp>
        <p:nvSpPr>
          <p:cNvPr id="13" name="reveal-03">
            <a:extLst>
              <a:ext uri="{FF2B5EF4-FFF2-40B4-BE49-F238E27FC236}">
                <ns2:creationId id="{A03DFCF8-2C6B-43EF-82C3-D7495A48D414}"/>
              </a:ext>
            </a:extLst>
          </p:cNvPr>
          <p:cNvSpPr>
            <a:spLocks noGrp="1"/>
          </p:cNvSpPr>
          <p:nvPr/>
        </p:nvSpPr>
        <p:spPr>
          <a:xfrm>
            <a:off x="1247775" y="5981700"/>
            <a:ext cx="531495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Проверить ответ агента</a:t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 результат обращения</a:t>
            </a:r>
          </a:p>
        </p:txBody>
      </p:sp>
      <p:sp>
        <p:nvSpPr>
          <p:cNvPr id="14" name="reveal-1">
            <a:extLst>
              <a:ext uri="{FF2B5EF4-FFF2-40B4-BE49-F238E27FC236}">
                <ns2:creationId id="{1A328E65-C382-4DEA-BD18-5D68FAA8C404}"/>
              </a:ext>
            </a:extLst>
          </p:cNvPr>
          <p:cNvSpPr>
            <a:spLocks noGrp="1"/>
          </p:cNvSpPr>
          <p:nvPr/>
        </p:nvSpPr>
        <p:spPr>
          <a:xfrm>
            <a:off x="7658100" y="2943225"/>
            <a:ext cx="39243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Что согласовать с МТС</a:t>
            </a:r>
          </a:p>
        </p:txBody>
      </p:sp>
      <p:sp>
        <p:nvSpPr>
          <p:cNvPr id="15" name="reveal-2">
            <a:extLst>
              <a:ext uri="{FF2B5EF4-FFF2-40B4-BE49-F238E27FC236}">
                <ns2:creationId id="{33E43AB2-F54A-47D6-B730-D23D4DCC9BE3}"/>
              </a:ext>
            </a:extLst>
          </p:cNvPr>
          <p:cNvSpPr>
            <a:spLocks noGrp="1"/>
          </p:cNvSpPr>
          <p:nvPr/>
        </p:nvSpPr>
        <p:spPr>
          <a:xfrm>
            <a:off x="7658100" y="3743325"/>
            <a:ext cx="3924300" cy="2524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Голосовую платформу</a:t>
            </a:r>
          </a:p>
          <a:p>
            <a:r>
              <a:t/>
            </a:r>
          </a:p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Размещение и обработку данных</a:t>
            </a:r>
          </a:p>
          <a:p>
            <a:r>
              <a:t/>
            </a:r>
          </a:p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Биллинг и лимиты использования</a:t>
            </a:r>
          </a:p>
          <a:p>
            <a:r>
              <a:t/>
            </a:r>
          </a:p>
          <a:p>
            <a:pPr algn="l">
              <a:defRPr sz="172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Поддержку и передачу человеку</a:t>
            </a:r>
          </a:p>
        </p:txBody>
      </p:sp>
    </p:spTree>
    <p:extLst>
      <p:ext uri="{BB962C8B-B14F-4D97-AF65-F5344CB8AC3E}">
        <ns4:creationId val="59006301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36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36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62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620"/>
                      </p:stCondLst>
                      <p:childTnLst>
                        <p:par>
                          <p:cTn id="4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5" name="">
            <a:extLst>
              <a:ext uri="{FF2B5EF4-FFF2-40B4-BE49-F238E27FC236}">
                <ns2:creationId id="{2182B1FA-F7D1-4745-8ED3-2696F18AD9AC}"/>
              </a:ext>
            </a:extLst>
          </p:cNvPr>
          <p:cNvPicPr>
            <a:picLocks noChangeAspect="1"/>
          </p:cNvPicPr>
          <p:nvPr/>
        </p:nvPicPr>
        <p:blipFill>
          <a:blip r:embed="R431747f82a2b4fd7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D22F1B0C-8428-4F43-A574-FC106181F22E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07</a:t>
            </a:r>
          </a:p>
        </p:txBody>
      </p:sp>
      <p:sp>
        <p:nvSpPr>
          <p:cNvPr id="3" name="title">
            <a:extLst>
              <a:ext uri="{FF2B5EF4-FFF2-40B4-BE49-F238E27FC236}">
                <ns2:creationId id="{445B572D-AC84-4397-9092-595FFFE9A994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Подписка и распределение выручки</a:t>
            </a:r>
          </a:p>
        </p:txBody>
      </p:sp>
      <p:sp>
        <p:nvSpPr>
          <p:cNvPr id="4" name="subtitle">
            <a:extLst>
              <a:ext uri="{FF2B5EF4-FFF2-40B4-BE49-F238E27FC236}">
                <ns2:creationId id="{5A743A05-DEB3-424C-ABCC-AE56E8B62C98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Предварительная коммерческая модель</a:t>
            </a:r>
          </a:p>
        </p:txBody>
      </p:sp>
      <p:sp>
        <p:nvSpPr>
          <p:cNvPr id="5" name="reveal-1">
            <a:extLst>
              <a:ext uri="{FF2B5EF4-FFF2-40B4-BE49-F238E27FC236}">
                <ns2:creationId id="{9892AE69-A9DB-46B4-A121-0BE1C6B35B4A}"/>
              </a:ext>
            </a:extLst>
          </p:cNvPr>
          <p:cNvSpPr>
            <a:spLocks noGrp="1"/>
          </p:cNvSpPr>
          <p:nvPr/>
        </p:nvSpPr>
        <p:spPr>
          <a:xfrm>
            <a:off x="609600" y="2847975"/>
            <a:ext cx="4000500" cy="1314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78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78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78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9,90</a:t>
            </a:r>
          </a:p>
        </p:txBody>
      </p:sp>
      <p:sp>
        <p:nvSpPr>
          <p:cNvPr id="6" name="reveal-1">
            <a:extLst>
              <a:ext uri="{FF2B5EF4-FFF2-40B4-BE49-F238E27FC236}">
                <ns2:creationId id="{65948F27-5DEE-44CD-A837-F0F8D5283DB6}"/>
              </a:ext>
            </a:extLst>
          </p:cNvPr>
          <p:cNvSpPr>
            <a:spLocks noGrp="1"/>
          </p:cNvSpPr>
          <p:nvPr/>
        </p:nvSpPr>
        <p:spPr>
          <a:xfrm>
            <a:off x="647700" y="4200525"/>
            <a:ext cx="42481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1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BYN / месяц за абонента</a:t>
            </a:r>
          </a:p>
        </p:txBody>
      </p:sp>
      <p:sp>
        <p:nvSpPr>
          <p:cNvPr id="7" name="reveal-2">
            <a:extLst>
              <a:ext uri="{FF2B5EF4-FFF2-40B4-BE49-F238E27FC236}">
                <ns2:creationId id="{096FD96A-5EE5-4CC3-B16A-28B8FF451B0D}"/>
              </a:ext>
            </a:extLst>
          </p:cNvPr>
          <p:cNvSpPr>
            <a:spLocks noGrp="1"/>
          </p:cNvSpPr>
          <p:nvPr/>
        </p:nvSpPr>
        <p:spPr>
          <a:xfrm>
            <a:off x="6057900" y="2914650"/>
            <a:ext cx="2667000" cy="1419225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D9D5DE"/>
            </a:solidFill>
          </a:ln>
        </p:spPr>
        <p:txBody>
          <a:bodyPr lIns="133350" tIns="133350" rIns="133350" bIns="133350" anchor="ctr"/>
          <a:lstStyle>
            <a:def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50% оператору</a:t>
            </a:r>
          </a:p>
          <a:p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8" name="reveal-2">
            <a:extLst>
              <a:ext uri="{FF2B5EF4-FFF2-40B4-BE49-F238E27FC236}">
                <ns2:creationId id="{D00C58B1-8324-4496-A562-58C45572394A}"/>
              </a:ext>
            </a:extLst>
          </p:cNvPr>
          <p:cNvSpPr>
            <a:spLocks noGrp="1"/>
          </p:cNvSpPr>
          <p:nvPr/>
        </p:nvSpPr>
        <p:spPr>
          <a:xfrm>
            <a:off x="8915400" y="2914650"/>
            <a:ext cx="2667000" cy="1419225"/>
          </a:xfrm>
          <a:prstGeom prst="roundRect">
            <a:avLst>
              <a:gd name="adj" fmla="val 4027"/>
            </a:avLst>
          </a:prstGeom>
          <a:solidFill>
            <a:srgbClr val="FFFFFF"/>
          </a:solidFill>
          <a:ln w="9525">
            <a:solidFill>
              <a:srgbClr val="D9D5DE"/>
            </a:solidFill>
          </a:ln>
        </p:spPr>
        <p:txBody>
          <a:bodyPr lIns="133350" tIns="133350" rIns="133350" bIns="133350" anchor="ctr"/>
          <a:lstStyle>
            <a:def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50% команде</a:t>
            </a:r>
          </a:p>
          <a:p>
            <a:pPr algn="ctr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9" name="reveal-3">
            <a:extLst>
              <a:ext uri="{FF2B5EF4-FFF2-40B4-BE49-F238E27FC236}">
                <ns2:creationId id="{094C985F-EB97-4904-BB4E-278B7119A1F9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4762500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При 1 000 платных абонентов</a:t>
            </a:r>
          </a:p>
        </p:txBody>
      </p:sp>
      <p:sp>
        <p:nvSpPr>
          <p:cNvPr id="10" name="reveal-3">
            <a:extLst>
              <a:ext uri="{FF2B5EF4-FFF2-40B4-BE49-F238E27FC236}">
                <ns2:creationId id="{8C3ABDDC-07BB-4DDF-B845-38EB9F1E56EC}"/>
              </a:ext>
            </a:extLst>
          </p:cNvPr>
          <p:cNvSpPr>
            <a:spLocks noGrp="1"/>
          </p:cNvSpPr>
          <p:nvPr/>
        </p:nvSpPr>
        <p:spPr>
          <a:xfrm>
            <a:off x="6057900" y="521970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7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9 900 BYN</a:t>
            </a:r>
          </a:p>
        </p:txBody>
      </p:sp>
      <p:sp>
        <p:nvSpPr>
          <p:cNvPr id="11" name="reveal-3">
            <a:extLst>
              <a:ext uri="{FF2B5EF4-FFF2-40B4-BE49-F238E27FC236}">
                <ns2:creationId id="{B3917230-606A-43A1-B445-8B2D227BE0A0}"/>
              </a:ext>
            </a:extLst>
          </p:cNvPr>
          <p:cNvSpPr>
            <a:spLocks noGrp="1"/>
          </p:cNvSpPr>
          <p:nvPr/>
        </p:nvSpPr>
        <p:spPr>
          <a:xfrm>
            <a:off x="6057900" y="5781675"/>
            <a:ext cx="268605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общая выручка / мес.</a:t>
            </a:r>
          </a:p>
        </p:txBody>
      </p:sp>
      <p:sp>
        <p:nvSpPr>
          <p:cNvPr id="12" name="reveal-3">
            <a:extLst>
              <a:ext uri="{FF2B5EF4-FFF2-40B4-BE49-F238E27FC236}">
                <ns2:creationId id="{67246F86-8C95-4273-B251-D8D3E4C70C7D}"/>
              </a:ext>
            </a:extLst>
          </p:cNvPr>
          <p:cNvSpPr>
            <a:spLocks noGrp="1"/>
          </p:cNvSpPr>
          <p:nvPr/>
        </p:nvSpPr>
        <p:spPr>
          <a:xfrm>
            <a:off x="8915400" y="521970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7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7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4 950 BYN</a:t>
            </a:r>
          </a:p>
        </p:txBody>
      </p:sp>
      <p:sp>
        <p:nvSpPr>
          <p:cNvPr id="13" name="reveal-3">
            <a:extLst>
              <a:ext uri="{FF2B5EF4-FFF2-40B4-BE49-F238E27FC236}">
                <ns2:creationId id="{B6AEC9DE-A398-4905-8212-0AB77A9709A1}"/>
              </a:ext>
            </a:extLst>
          </p:cNvPr>
          <p:cNvSpPr>
            <a:spLocks noGrp="1"/>
          </p:cNvSpPr>
          <p:nvPr/>
        </p:nvSpPr>
        <p:spPr>
          <a:xfrm>
            <a:off x="8915400" y="5781675"/>
            <a:ext cx="26670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доля команды / мес.</a:t>
            </a:r>
          </a:p>
        </p:txBody>
      </p:sp>
      <p:sp>
        <p:nvSpPr>
          <p:cNvPr id="14" name="static-disclosure">
            <a:extLst>
              <a:ext uri="{FF2B5EF4-FFF2-40B4-BE49-F238E27FC236}">
                <ns2:creationId id="{48B75831-8CBA-418A-A645-F35F3275EA2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Суммы до расходов и налогов. Лимиты и условия партнёрства требуют согласования.</a:t>
            </a:r>
          </a:p>
        </p:txBody>
      </p:sp>
    </p:spTree>
    <p:extLst>
      <p:ext uri="{BB962C8B-B14F-4D97-AF65-F5344CB8AC3E}">
        <ns4:creationId val="1531566553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6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62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2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62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2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8" name="">
            <a:extLst>
              <a:ext uri="{FF2B5EF4-FFF2-40B4-BE49-F238E27FC236}">
                <ns2:creationId id="{01232F81-3C7A-4774-9EF5-4DD766924581}"/>
              </a:ext>
            </a:extLst>
          </p:cNvPr>
          <p:cNvPicPr>
            <a:picLocks noChangeAspect="1"/>
          </p:cNvPicPr>
          <p:nvPr/>
        </p:nvPicPr>
        <p:blipFill>
          <a:blip r:embed="R850047f0582045d7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78CA78B0-8998-4E46-8E52-616A0CA2F4E9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08</a:t>
            </a:r>
          </a:p>
        </p:txBody>
      </p:sp>
      <p:sp>
        <p:nvSpPr>
          <p:cNvPr id="3" name="title">
            <a:extLst>
              <a:ext uri="{FF2B5EF4-FFF2-40B4-BE49-F238E27FC236}">
                <ns2:creationId id="{D0BF364A-EB09-4C02-938E-11835DE73515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Из чего складываются расходы</a:t>
            </a:r>
          </a:p>
        </p:txBody>
      </p:sp>
      <p:sp>
        <p:nvSpPr>
          <p:cNvPr id="4" name="subtitle">
            <a:extLst>
              <a:ext uri="{FF2B5EF4-FFF2-40B4-BE49-F238E27FC236}">
                <ns2:creationId id="{A1878BAC-EBE3-4FF0-B756-2FD438BB7F4A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Расчётные ставки из исходной модели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62052D82-7191-48ED-B04B-6535AE028084}"/>
              </a:ext>
            </a:extLst>
          </p:cNvPr>
          <p:cNvGraphicFramePr/>
          <p:nvPr/>
        </p:nvGraphicFramePr>
        <p:xfrm>
          <a:off x="609600" y="2771775"/>
          <a:ext cx="10972800" cy="2667000"/>
        </p:xfrm>
        <a:graphic>
          <a:graphicData uri="http://schemas.openxmlformats.org/drawingml/2006/table">
            <a:tbl>
              <a:tblPr/>
              <a:tblGrid>
                <a:gridCol w="5429250"/>
                <a:gridCol w="2628900"/>
                <a:gridCol w="2914650"/>
              </a:tblGrid>
              <a:tr h="457200"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Компонент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Ставка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500">
                          <a:solidFill>
                            <a:srgbClr val="656170"/>
                          </a:solidFill>
                          <a:latin typeface="Golos Text"/>
                          <a:ea typeface="Golos Text"/>
                          <a:cs typeface="Golos Text"/>
                        </a:rPr>
                        <a:t>Единица расчёта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Телефония (SIP)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0,05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минута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Распознавание и синтез речи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0,05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минута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Лёгкая LLM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0,02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1 000 токенов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Тяжёлая LLM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0,08 BYN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>
                          <a:solidFill>
                            <a:srgbClr val="17121D"/>
                          </a:solidFill>
                          <a:latin typeface="Golos Text"/>
                          <a:ea typeface="Golos Text"/>
                          <a:cs typeface="Golos Text"/>
                        </a:rPr>
                        <a:t>1 000 токенов</a:t>
                      </a:r>
                    </a:p>
                  </a:txBody>
                  <a:tcPr marL="91440" marR="91440" marT="45720" marB="45720" anchor="ctr">
                    <a:solidFill>
                      <a:srgbClr val="F2F0F4"/>
                    </a:solidFill>
                  </a:tcPr>
                </a:tc>
              </a:tr>
            </a:tbl>
          </a:graphicData>
        </a:graphic>
      </p:graphicFrame>
      <p:sp>
        <p:nvSpPr>
          <p:cNvPr id="6" name="reveal-1">
            <a:extLst>
              <a:ext uri="{FF2B5EF4-FFF2-40B4-BE49-F238E27FC236}">
                <ns2:creationId id="{86ADF390-BC04-4BAB-AE30-292491270824}"/>
              </a:ext>
            </a:extLst>
          </p:cNvPr>
          <p:cNvSpPr>
            <a:spLocks noGrp="1"/>
          </p:cNvSpPr>
          <p:nvPr/>
        </p:nvSpPr>
        <p:spPr>
          <a:xfrm>
            <a:off x="609600" y="5867400"/>
            <a:ext cx="5000625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4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0,10 BYN за минуту</a:t>
            </a:r>
          </a:p>
        </p:txBody>
      </p:sp>
      <p:sp>
        <p:nvSpPr>
          <p:cNvPr id="7" name="reveal-1">
            <a:extLst>
              <a:ext uri="{FF2B5EF4-FFF2-40B4-BE49-F238E27FC236}">
                <ns2:creationId id="{6ECCC81C-2264-4698-A178-F574C836C12A}"/>
              </a:ext>
            </a:extLst>
          </p:cNvPr>
          <p:cNvSpPr>
            <a:spLocks noGrp="1"/>
          </p:cNvSpPr>
          <p:nvPr/>
        </p:nvSpPr>
        <p:spPr>
          <a:xfrm>
            <a:off x="6334125" y="5867400"/>
            <a:ext cx="5248275" cy="657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 расходов на модели,</a:t>
            </a:r>
          </a:p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инфраструктуру и поддержку</a:t>
            </a:r>
          </a:p>
        </p:txBody>
      </p:sp>
    </p:spTree>
    <p:extLst>
      <p:ext uri="{BB962C8B-B14F-4D97-AF65-F5344CB8AC3E}">
        <ns4:creationId val="1120652404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ns4="http://schemas.openxmlformats.org/drawingml/2006/chart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3" name="">
            <a:extLst>
              <a:ext uri="{FF2B5EF4-FFF2-40B4-BE49-F238E27FC236}">
                <ns2:creationId id="{CEE02901-3218-4989-9350-E8373D33D137}"/>
              </a:ext>
            </a:extLst>
          </p:cNvPr>
          <p:cNvPicPr>
            <a:picLocks noChangeAspect="1"/>
          </p:cNvPicPr>
          <p:nvPr/>
        </p:nvPicPr>
        <p:blipFill>
          <a:blip r:embed="R4681698ed97e4b24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0168E81D-1ED6-4085-82BC-AD5F4D4BBB91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09</a:t>
            </a:r>
          </a:p>
        </p:txBody>
      </p:sp>
      <p:sp>
        <p:nvSpPr>
          <p:cNvPr id="3" name="title">
            <a:extLst>
              <a:ext uri="{FF2B5EF4-FFF2-40B4-BE49-F238E27FC236}">
                <ns2:creationId id="{067FA32E-5E9B-4D4A-99AE-272B65D228B6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Минуты меняют экономику подписки</a:t>
            </a:r>
          </a:p>
        </p:txBody>
      </p:sp>
      <p:sp>
        <p:nvSpPr>
          <p:cNvPr id="4" name="subtitle">
            <a:extLst>
              <a:ext uri="{FF2B5EF4-FFF2-40B4-BE49-F238E27FC236}">
                <ns2:creationId id="{83F3A48E-5474-472C-9733-C16EF52B5D71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Пример: расходы на телефонию и речь оплачиваются из доли команды</a:t>
            </a:r>
          </a:p>
        </p:txBody>
      </p:sp>
      <p:graphicFrame>
        <p:nvGraphicFramePr>
          <p:cNvPr id="5" name="Chart">
            <a:extLst>
              <a:ext uri="{FF2B5EF4-FFF2-40B4-BE49-F238E27FC236}">
                <ns2:creationId id="{7DE0D184-8330-4966-A88D-E23479D21E92}"/>
              </a:ext>
            </a:extLst>
          </p:cNvPr>
          <p:cNvGraphicFramePr/>
          <p:nvPr/>
        </p:nvGraphicFramePr>
        <p:xfrm>
          <a:off x="457200" y="2914650"/>
          <a:ext cx="7848600" cy="2324100"/>
        </p:xfrm>
        <a:graphic>
          <a:graphicData uri="http://schemas.openxmlformats.org/drawingml/2006/chart">
            <ns4:chart r:id="R14a10b0b14954560"/>
          </a:graphicData>
        </a:graphic>
      </p:graphicFrame>
      <p:sp>
        <p:nvSpPr>
          <p:cNvPr id="6" name="reveal-1">
            <a:extLst>
              <a:ext uri="{FF2B5EF4-FFF2-40B4-BE49-F238E27FC236}">
                <ns2:creationId id="{831A5FA3-E013-45CC-9B21-0B4C4C578075}"/>
              </a:ext>
            </a:extLst>
          </p:cNvPr>
          <p:cNvSpPr>
            <a:spLocks noGrp="1"/>
          </p:cNvSpPr>
          <p:nvPr/>
        </p:nvSpPr>
        <p:spPr>
          <a:xfrm>
            <a:off x="8763000" y="2971800"/>
            <a:ext cx="2809875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4,95 BYN</a:t>
            </a:r>
          </a:p>
        </p:txBody>
      </p:sp>
      <p:sp>
        <p:nvSpPr>
          <p:cNvPr id="7" name="reveal-1">
            <a:extLst>
              <a:ext uri="{FF2B5EF4-FFF2-40B4-BE49-F238E27FC236}">
                <ns2:creationId id="{AF836F32-5933-4067-81C0-EA5E8404A5B0}"/>
              </a:ext>
            </a:extLst>
          </p:cNvPr>
          <p:cNvSpPr>
            <a:spLocks noGrp="1"/>
          </p:cNvSpPr>
          <p:nvPr/>
        </p:nvSpPr>
        <p:spPr>
          <a:xfrm>
            <a:off x="8763000" y="3714750"/>
            <a:ext cx="2809875" cy="857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доля команды</a:t>
            </a:r>
          </a:p>
          <a:p>
            <a:pPr algn="l">
              <a:defRPr sz="20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 одной подписки</a:t>
            </a:r>
          </a:p>
        </p:txBody>
      </p:sp>
      <p:sp>
        <p:nvSpPr>
          <p:cNvPr id="8" name="static-legend">
            <a:extLst>
              <a:ext uri="{FF2B5EF4-FFF2-40B4-BE49-F238E27FC236}">
                <ns2:creationId id="{42BC497C-FE7C-4F0B-89E9-C7664AEFD7B4}"/>
              </a:ext>
            </a:extLst>
          </p:cNvPr>
          <p:cNvSpPr>
            <a:spLocks noGrp="1"/>
          </p:cNvSpPr>
          <p:nvPr/>
        </p:nvSpPr>
        <p:spPr>
          <a:xfrm>
            <a:off x="609600" y="536257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Тёмная часть</a:t>
            </a:r>
          </a:p>
        </p:txBody>
      </p:sp>
      <p:sp>
        <p:nvSpPr>
          <p:cNvPr id="9" name="static-legend">
            <a:extLst>
              <a:ext uri="{FF2B5EF4-FFF2-40B4-BE49-F238E27FC236}">
                <ns2:creationId id="{8E1D356D-2D22-40F6-8DBE-ECE13CF6BF58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5715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Телефония + распознавание + синтез</a:t>
            </a:r>
          </a:p>
        </p:txBody>
      </p:sp>
      <p:sp>
        <p:nvSpPr>
          <p:cNvPr id="10" name="static-legend">
            <a:extLst>
              <a:ext uri="{FF2B5EF4-FFF2-40B4-BE49-F238E27FC236}">
                <ns2:creationId id="{533F7FAF-0207-4EE4-98D2-025AECEB31C0}"/>
              </a:ext>
            </a:extLst>
          </p:cNvPr>
          <p:cNvSpPr>
            <a:spLocks noGrp="1"/>
          </p:cNvSpPr>
          <p:nvPr/>
        </p:nvSpPr>
        <p:spPr>
          <a:xfrm>
            <a:off x="6819900" y="5362575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5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15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Светлая часть</a:t>
            </a:r>
          </a:p>
        </p:txBody>
      </p:sp>
      <p:sp>
        <p:nvSpPr>
          <p:cNvPr id="11" name="static-legend">
            <a:extLst>
              <a:ext uri="{FF2B5EF4-FFF2-40B4-BE49-F238E27FC236}">
                <ns2:creationId id="{8E2B38D6-27F9-4145-99B2-CE397A2EC9D6}"/>
              </a:ext>
            </a:extLst>
          </p:cNvPr>
          <p:cNvSpPr>
            <a:spLocks noGrp="1"/>
          </p:cNvSpPr>
          <p:nvPr/>
        </p:nvSpPr>
        <p:spPr>
          <a:xfrm>
            <a:off x="6819900" y="5762625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Остаток до LLM и других расходов</a:t>
            </a:r>
          </a:p>
        </p:txBody>
      </p:sp>
      <p:sp>
        <p:nvSpPr>
          <p:cNvPr id="12" name="static-disclosure">
            <a:extLst>
              <a:ext uri="{FF2B5EF4-FFF2-40B4-BE49-F238E27FC236}">
                <ns2:creationId id="{3DF2903C-8A17-4291-9F75-DE685DDC84AA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BYN / абонент / месяц. Лимиты минут нужно определить до запуска тарифа.</a:t>
            </a:r>
          </a:p>
        </p:txBody>
      </p:sp>
    </p:spTree>
    <p:extLst>
      <p:ext uri="{BB962C8B-B14F-4D97-AF65-F5344CB8AC3E}">
        <ns5:creationId val="1440479128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2F0F4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6" name="">
            <a:extLst>
              <a:ext uri="{FF2B5EF4-FFF2-40B4-BE49-F238E27FC236}">
                <ns2:creationId id="{94CDD0A9-B4B7-47EE-9253-FD8215151B77}"/>
              </a:ext>
            </a:extLst>
          </p:cNvPr>
          <p:cNvPicPr>
            <a:picLocks noChangeAspect="1"/>
          </p:cNvPicPr>
          <p:nvPr/>
        </p:nvPicPr>
        <p:blipFill>
          <a:blip r:embed="R454feff0132849c2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728C7BA4-3032-4DC9-951F-2A85B994890B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10</a:t>
            </a:r>
          </a:p>
        </p:txBody>
      </p:sp>
      <p:sp>
        <p:nvSpPr>
          <p:cNvPr id="3" name="title">
            <a:extLst>
              <a:ext uri="{FF2B5EF4-FFF2-40B4-BE49-F238E27FC236}">
                <ns2:creationId id="{E1FDC64D-D20F-4CAA-ADDB-F4AEBF4B54E9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Демонстрация одного обращения</a:t>
            </a:r>
          </a:p>
        </p:txBody>
      </p:sp>
      <p:sp>
        <p:nvSpPr>
          <p:cNvPr id="4" name="subtitle">
            <a:extLst>
              <a:ext uri="{FF2B5EF4-FFF2-40B4-BE49-F238E27FC236}">
                <ns2:creationId id="{060FFD3A-810D-4E09-A88F-1C43DC5B28A4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Сценарий: вопрос о компании и просьба связаться с сотрудником</a:t>
            </a:r>
          </a:p>
        </p:txBody>
      </p:sp>
      <p:sp>
        <p:nvSpPr>
          <p:cNvPr id="5" name="reveal-1">
            <a:extLst>
              <a:ext uri="{FF2B5EF4-FFF2-40B4-BE49-F238E27FC236}">
                <ns2:creationId id="{25F2BCFE-CDFA-4334-B0E6-1EE43E4D8DF7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6629400" cy="1876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«Вы сегодня работаете?</a:t>
            </a:r>
          </a:p>
          <a:p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Хочу обсудить</a:t>
            </a:r>
          </a:p>
          <a:p>
            <a:pPr algn="l">
              <a:defRPr sz="3300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3300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подключение»</a:t>
            </a:r>
          </a:p>
        </p:txBody>
      </p:sp>
      <p:sp>
        <p:nvSpPr>
          <p:cNvPr id="6" name="static-disclosure">
            <a:extLst>
              <a:ext uri="{FF2B5EF4-FFF2-40B4-BE49-F238E27FC236}">
                <ns2:creationId id="{D5F252A4-E180-4FC0-B70E-9FE54B7CCE74}"/>
              </a:ext>
            </a:extLst>
          </p:cNvPr>
          <p:cNvSpPr>
            <a:spLocks noGrp="1"/>
          </p:cNvSpPr>
          <p:nvPr/>
        </p:nvSpPr>
        <p:spPr>
          <a:xfrm>
            <a:off x="638175" y="5305425"/>
            <a:ext cx="6381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Пример запроса для живой демонстрации</a:t>
            </a:r>
          </a:p>
        </p:txBody>
      </p:sp>
      <p:sp>
        <p:nvSpPr>
          <p:cNvPr id="7" name="reveal-01">
            <a:extLst>
              <a:ext uri="{FF2B5EF4-FFF2-40B4-BE49-F238E27FC236}">
                <ns2:creationId id="{B6A99C8C-F27E-4741-8C60-1330F2ACD129}"/>
              </a:ext>
            </a:extLst>
          </p:cNvPr>
          <p:cNvSpPr>
            <a:spLocks noGrp="1"/>
          </p:cNvSpPr>
          <p:nvPr/>
        </p:nvSpPr>
        <p:spPr>
          <a:xfrm>
            <a:off x="7810500" y="29527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01</a:t>
            </a:r>
          </a:p>
        </p:txBody>
      </p:sp>
      <p:sp>
        <p:nvSpPr>
          <p:cNvPr id="8" name="reveal-01">
            <a:extLst>
              <a:ext uri="{FF2B5EF4-FFF2-40B4-BE49-F238E27FC236}">
                <ns2:creationId id="{BE0F1E24-B78B-43EC-9275-C42ACA9F002B}"/>
              </a:ext>
            </a:extLst>
          </p:cNvPr>
          <p:cNvSpPr>
            <a:spLocks noGrp="1"/>
          </p:cNvSpPr>
          <p:nvPr/>
        </p:nvSpPr>
        <p:spPr>
          <a:xfrm>
            <a:off x="8448675" y="2924175"/>
            <a:ext cx="31337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Ответ по знаниям</a:t>
            </a:r>
          </a:p>
        </p:txBody>
      </p:sp>
      <p:sp>
        <p:nvSpPr>
          <p:cNvPr id="9" name="reveal-01">
            <a:extLst>
              <a:ext uri="{FF2B5EF4-FFF2-40B4-BE49-F238E27FC236}">
                <ns2:creationId id="{F6AC3F83-C4C8-4440-B4EA-8324AEC87958}"/>
              </a:ext>
            </a:extLst>
          </p:cNvPr>
          <p:cNvSpPr>
            <a:spLocks noGrp="1"/>
          </p:cNvSpPr>
          <p:nvPr/>
        </p:nvSpPr>
        <p:spPr>
          <a:xfrm>
            <a:off x="8448675" y="3400425"/>
            <a:ext cx="313372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Агент использует</a:t>
            </a:r>
          </a:p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данные компании</a:t>
            </a:r>
          </a:p>
        </p:txBody>
      </p:sp>
      <p:sp>
        <p:nvSpPr>
          <p:cNvPr id="10" name="reveal-02">
            <a:extLst>
              <a:ext uri="{FF2B5EF4-FFF2-40B4-BE49-F238E27FC236}">
                <ns2:creationId id="{B46D7FDA-2A4A-4D0E-A858-24D9571E33CA}"/>
              </a:ext>
            </a:extLst>
          </p:cNvPr>
          <p:cNvSpPr>
            <a:spLocks noGrp="1"/>
          </p:cNvSpPr>
          <p:nvPr/>
        </p:nvSpPr>
        <p:spPr>
          <a:xfrm>
            <a:off x="7810500" y="419100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02</a:t>
            </a:r>
          </a:p>
        </p:txBody>
      </p:sp>
      <p:sp>
        <p:nvSpPr>
          <p:cNvPr id="11" name="reveal-02">
            <a:extLst>
              <a:ext uri="{FF2B5EF4-FFF2-40B4-BE49-F238E27FC236}">
                <ns2:creationId id="{CA48F268-6F54-467D-9DAD-189BA6A42E4B}"/>
              </a:ext>
            </a:extLst>
          </p:cNvPr>
          <p:cNvSpPr>
            <a:spLocks noGrp="1"/>
          </p:cNvSpPr>
          <p:nvPr/>
        </p:nvSpPr>
        <p:spPr>
          <a:xfrm>
            <a:off x="8448675" y="4162425"/>
            <a:ext cx="31337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Уточнение деталей</a:t>
            </a:r>
          </a:p>
        </p:txBody>
      </p:sp>
      <p:sp>
        <p:nvSpPr>
          <p:cNvPr id="12" name="reveal-02">
            <a:extLst>
              <a:ext uri="{FF2B5EF4-FFF2-40B4-BE49-F238E27FC236}">
                <ns2:creationId id="{7D70849A-46DE-4840-9692-E21D4D73F25E}"/>
              </a:ext>
            </a:extLst>
          </p:cNvPr>
          <p:cNvSpPr>
            <a:spLocks noGrp="1"/>
          </p:cNvSpPr>
          <p:nvPr/>
        </p:nvSpPr>
        <p:spPr>
          <a:xfrm>
            <a:off x="8448675" y="4638675"/>
            <a:ext cx="313372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Выясняет цель обращения</a:t>
            </a:r>
          </a:p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контакт клиента</a:t>
            </a:r>
          </a:p>
        </p:txBody>
      </p:sp>
      <p:sp>
        <p:nvSpPr>
          <p:cNvPr id="13" name="reveal-03">
            <a:extLst>
              <a:ext uri="{FF2B5EF4-FFF2-40B4-BE49-F238E27FC236}">
                <ns2:creationId id="{102DC4DB-B00F-4CB9-90B9-B9CA8B0D084F}"/>
              </a:ext>
            </a:extLst>
          </p:cNvPr>
          <p:cNvSpPr>
            <a:spLocks noGrp="1"/>
          </p:cNvSpPr>
          <p:nvPr/>
        </p:nvSpPr>
        <p:spPr>
          <a:xfrm>
            <a:off x="7810500" y="5429250"/>
            <a:ext cx="428625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725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725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03</a:t>
            </a:r>
          </a:p>
        </p:txBody>
      </p:sp>
      <p:sp>
        <p:nvSpPr>
          <p:cNvPr id="14" name="reveal-03">
            <a:extLst>
              <a:ext uri="{FF2B5EF4-FFF2-40B4-BE49-F238E27FC236}">
                <ns2:creationId id="{30EE3874-A9E3-4335-8AA7-423F9DEFF622}"/>
              </a:ext>
            </a:extLst>
          </p:cNvPr>
          <p:cNvSpPr>
            <a:spLocks noGrp="1"/>
          </p:cNvSpPr>
          <p:nvPr/>
        </p:nvSpPr>
        <p:spPr>
          <a:xfrm>
            <a:off x="8448675" y="5400675"/>
            <a:ext cx="31337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175">
                <a:solidFill>
                  <a:srgbClr val="17121D"/>
                </a:solidFill>
                <a:latin typeface="Golos Text"/>
                <a:ea typeface="Golos Text"/>
                <a:cs typeface="Golos Text"/>
              </a:defRPr>
            </a:pPr>
            <a:r>
              <a:rPr sz="2175">
                <a:solidFill>
                  <a:srgbClr val="17121D"/>
                </a:solidFill>
                <a:latin typeface="Golos Text"/>
                <a:ea typeface="Golos Text"/>
                <a:cs typeface="Golos Text"/>
              </a:rPr>
              <a:t>Результат в кабинете</a:t>
            </a:r>
          </a:p>
        </p:txBody>
      </p:sp>
      <p:sp>
        <p:nvSpPr>
          <p:cNvPr id="15" name="reveal-03">
            <a:extLst>
              <a:ext uri="{FF2B5EF4-FFF2-40B4-BE49-F238E27FC236}">
                <ns2:creationId id="{13E28089-D0DF-4360-BD63-E9B75474FD39}"/>
              </a:ext>
            </a:extLst>
          </p:cNvPr>
          <p:cNvSpPr>
            <a:spLocks noGrp="1"/>
          </p:cNvSpPr>
          <p:nvPr/>
        </p:nvSpPr>
        <p:spPr>
          <a:xfrm>
            <a:off x="8448675" y="5876925"/>
            <a:ext cx="3133725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Владелец видит итог</a:t>
            </a:r>
          </a:p>
          <a:p>
            <a:pPr algn="l">
              <a:defRPr sz="1800">
                <a:solidFill>
                  <a:srgbClr val="656170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656170"/>
                </a:solidFill>
                <a:latin typeface="Golos Text"/>
                <a:ea typeface="Golos Text"/>
                <a:cs typeface="Golos Text"/>
              </a:rPr>
              <a:t>и следующий шаг</a:t>
            </a:r>
          </a:p>
        </p:txBody>
      </p:sp>
    </p:spTree>
    <p:extLst>
      <p:ext uri="{BB962C8B-B14F-4D97-AF65-F5344CB8AC3E}">
        <ns4:creationId val="59476797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10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36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36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36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62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62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62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221D29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15" name="">
            <a:extLst>
              <a:ext uri="{FF2B5EF4-FFF2-40B4-BE49-F238E27FC236}">
                <ns2:creationId id="{3BCB9A02-C7C2-4473-B2AC-7935627131D8}"/>
              </a:ext>
            </a:extLst>
          </p:cNvPr>
          <p:cNvPicPr>
            <a:picLocks noChangeAspect="1"/>
          </p:cNvPicPr>
          <p:nvPr/>
        </p:nvPicPr>
        <p:blipFill>
          <a:blip r:embed="R2ce75bc7369146df"/>
          <a:stretch/>
        </p:blipFill>
        <p:spPr>
          <a:xfrm>
            <a:off x="609600" y="333546"/>
            <a:ext cx="1962150" cy="342559"/>
          </a:xfrm>
          <a:prstGeom prst="rect">
            <a:avLst/>
          </a:prstGeom>
        </p:spPr>
      </p:pic>
      <p:sp>
        <p:nvSpPr>
          <p:cNvPr id="2" name="static-page">
            <a:extLst>
              <a:ext uri="{FF2B5EF4-FFF2-40B4-BE49-F238E27FC236}">
                <ns2:creationId id="{58F18545-E399-4FCF-A240-519A0106EFD3}"/>
              </a:ext>
            </a:extLst>
          </p:cNvPr>
          <p:cNvSpPr>
            <a:spLocks noGrp="1"/>
          </p:cNvSpPr>
          <p:nvPr/>
        </p:nvSpPr>
        <p:spPr>
          <a:xfrm>
            <a:off x="11020425" y="400050"/>
            <a:ext cx="5429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r">
              <a:defRPr sz="135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35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11</a:t>
            </a:r>
          </a:p>
        </p:txBody>
      </p:sp>
      <p:sp>
        <p:nvSpPr>
          <p:cNvPr id="3" name="title">
            <a:extLst>
              <a:ext uri="{FF2B5EF4-FFF2-40B4-BE49-F238E27FC236}">
                <ns2:creationId id="{DFD92A28-9BF8-4B45-9C7E-A50C8BB14BE7}"/>
              </a:ext>
            </a:extLst>
          </p:cNvPr>
          <p:cNvSpPr>
            <a:spLocks noGrp="1"/>
          </p:cNvSpPr>
          <p:nvPr/>
        </p:nvSpPr>
        <p:spPr>
          <a:xfrm>
            <a:off x="609600" y="1133475"/>
            <a:ext cx="10972800" cy="1228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37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37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Пилот перед масштабированием</a:t>
            </a:r>
          </a:p>
        </p:txBody>
      </p:sp>
      <p:sp>
        <p:nvSpPr>
          <p:cNvPr id="4" name="subtitle">
            <a:extLst>
              <a:ext uri="{FF2B5EF4-FFF2-40B4-BE49-F238E27FC236}">
                <ns2:creationId id="{12AFA135-9FEB-4F25-9546-FC82074089E6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1093470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Проверить пользу для клиента и стоимость реальной нагрузки</a:t>
            </a:r>
          </a:p>
        </p:txBody>
      </p:sp>
      <p:sp>
        <p:nvSpPr>
          <p:cNvPr id="5" name="reveal-1">
            <a:extLst>
              <a:ext uri="{FF2B5EF4-FFF2-40B4-BE49-F238E27FC236}">
                <ns2:creationId id="{DFE82564-A4CC-42B3-BD2A-65BFFD4F2054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581025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На пилоте</a:t>
            </a:r>
          </a:p>
        </p:txBody>
      </p:sp>
      <p:sp>
        <p:nvSpPr>
          <p:cNvPr id="6" name="reveal-2">
            <a:extLst>
              <a:ext uri="{FF2B5EF4-FFF2-40B4-BE49-F238E27FC236}">
                <ns2:creationId id="{B77A2A4B-2C12-4056-B9C7-0B8A10AE311F}"/>
              </a:ext>
            </a:extLst>
          </p:cNvPr>
          <p:cNvSpPr>
            <a:spLocks noGrp="1"/>
          </p:cNvSpPr>
          <p:nvPr/>
        </p:nvSpPr>
        <p:spPr>
          <a:xfrm>
            <a:off x="609600" y="3886200"/>
            <a:ext cx="19240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Качество</a:t>
            </a:r>
          </a:p>
        </p:txBody>
      </p:sp>
      <p:sp>
        <p:nvSpPr>
          <p:cNvPr id="7" name="reveal-2">
            <a:extLst>
              <a:ext uri="{FF2B5EF4-FFF2-40B4-BE49-F238E27FC236}">
                <ns2:creationId id="{98FAE125-2DA9-4492-AC36-8550C7A02079}"/>
              </a:ext>
            </a:extLst>
          </p:cNvPr>
          <p:cNvSpPr>
            <a:spLocks noGrp="1"/>
          </p:cNvSpPr>
          <p:nvPr/>
        </p:nvSpPr>
        <p:spPr>
          <a:xfrm>
            <a:off x="2809875" y="388620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Доля завершённых обращений</a:t>
            </a:r>
          </a:p>
        </p:txBody>
      </p:sp>
      <p:sp>
        <p:nvSpPr>
          <p:cNvPr id="8" name="reveal-3">
            <a:extLst>
              <a:ext uri="{FF2B5EF4-FFF2-40B4-BE49-F238E27FC236}">
                <ns2:creationId id="{ED1ADC3A-8B2E-434F-9986-12457374652A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9240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Скорость</a:t>
            </a:r>
          </a:p>
        </p:txBody>
      </p:sp>
      <p:sp>
        <p:nvSpPr>
          <p:cNvPr id="9" name="reveal-3">
            <a:extLst>
              <a:ext uri="{FF2B5EF4-FFF2-40B4-BE49-F238E27FC236}">
                <ns2:creationId id="{2B61315A-436E-465B-826E-A4A6BC43D8C8}"/>
              </a:ext>
            </a:extLst>
          </p:cNvPr>
          <p:cNvSpPr>
            <a:spLocks noGrp="1"/>
          </p:cNvSpPr>
          <p:nvPr/>
        </p:nvSpPr>
        <p:spPr>
          <a:xfrm>
            <a:off x="2809875" y="459105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Задержка голосового ответа</a:t>
            </a:r>
          </a:p>
        </p:txBody>
      </p:sp>
      <p:sp>
        <p:nvSpPr>
          <p:cNvPr id="10" name="reveal-4">
            <a:extLst>
              <a:ext uri="{FF2B5EF4-FFF2-40B4-BE49-F238E27FC236}">
                <ns2:creationId id="{A51F420D-B142-4846-AFF8-D9E55358B4AD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19240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02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02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Экономика</a:t>
            </a:r>
          </a:p>
        </p:txBody>
      </p:sp>
      <p:sp>
        <p:nvSpPr>
          <p:cNvPr id="11" name="reveal-4">
            <a:extLst>
              <a:ext uri="{FF2B5EF4-FFF2-40B4-BE49-F238E27FC236}">
                <ns2:creationId id="{E5EC7325-EC9F-43FF-B980-E88317AEDF30}"/>
              </a:ext>
            </a:extLst>
          </p:cNvPr>
          <p:cNvSpPr>
            <a:spLocks noGrp="1"/>
          </p:cNvSpPr>
          <p:nvPr/>
        </p:nvSpPr>
        <p:spPr>
          <a:xfrm>
            <a:off x="2809875" y="5295900"/>
            <a:ext cx="44767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75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75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Стоимость минуты и подписки</a:t>
            </a:r>
          </a:p>
        </p:txBody>
      </p:sp>
      <p:sp>
        <p:nvSpPr>
          <p:cNvPr id="12" name="reveal-1">
            <a:extLst>
              <a:ext uri="{FF2B5EF4-FFF2-40B4-BE49-F238E27FC236}">
                <ns2:creationId id="{24D938FD-2CC7-480B-8A61-FF9C4F22647F}"/>
              </a:ext>
            </a:extLst>
          </p:cNvPr>
          <p:cNvSpPr>
            <a:spLocks noGrp="1"/>
          </p:cNvSpPr>
          <p:nvPr/>
        </p:nvSpPr>
        <p:spPr>
          <a:xfrm>
            <a:off x="8134350" y="3019425"/>
            <a:ext cx="3448050" cy="542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2475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2475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Следующий этап</a:t>
            </a:r>
          </a:p>
        </p:txBody>
      </p:sp>
      <p:sp>
        <p:nvSpPr>
          <p:cNvPr id="13" name="reveal-5">
            <a:extLst>
              <a:ext uri="{FF2B5EF4-FFF2-40B4-BE49-F238E27FC236}">
                <ns2:creationId id="{9843AF2E-CB9E-4B3A-BDEE-79415CBA5057}"/>
              </a:ext>
            </a:extLst>
          </p:cNvPr>
          <p:cNvSpPr>
            <a:spLocks noGrp="1"/>
          </p:cNvSpPr>
          <p:nvPr/>
        </p:nvSpPr>
        <p:spPr>
          <a:xfrm>
            <a:off x="8134350" y="3886200"/>
            <a:ext cx="3448050" cy="2085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Интеграции CRM / email</a:t>
            </a:r>
          </a:p>
          <a:p>
            <a:r>
              <a:t/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Аналитика частых вопросов</a:t>
            </a:r>
          </a:p>
          <a:p>
            <a:r>
              <a:t/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Улучшение сценариев</a:t>
            </a:r>
          </a:p>
          <a:p>
            <a:pPr algn="l">
              <a:defRPr sz="1800">
                <a:solidFill>
                  <a:srgbClr val="B9B4C2"/>
                </a:solidFill>
                <a:latin typeface="Golos Text"/>
                <a:ea typeface="Golos Text"/>
                <a:cs typeface="Golos Text"/>
              </a:defRPr>
            </a:pPr>
            <a:r>
              <a:rPr sz="1800">
                <a:solidFill>
                  <a:srgbClr val="B9B4C2"/>
                </a:solidFill>
                <a:latin typeface="Golos Text"/>
                <a:ea typeface="Golos Text"/>
                <a:cs typeface="Golos Text"/>
              </a:rPr>
              <a:t>по реальным диалогам</a:t>
            </a:r>
          </a:p>
        </p:txBody>
      </p:sp>
      <p:sp>
        <p:nvSpPr>
          <p:cNvPr id="14" name="reveal-6">
            <a:extLst>
              <a:ext uri="{FF2B5EF4-FFF2-40B4-BE49-F238E27FC236}">
                <ns2:creationId id="{5DA050A2-443A-4ECE-880A-75869F415377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defPPr>
          </a:lstStyle>
          <a:p>
            <a:pPr algn="l">
              <a:defRPr sz="1650">
                <a:solidFill>
                  <a:srgbClr val="F2F0F4"/>
                </a:solidFill>
                <a:latin typeface="Golos Text"/>
                <a:ea typeface="Golos Text"/>
                <a:cs typeface="Golos Text"/>
              </a:defRPr>
            </a:pPr>
            <a:r>
              <a:rPr sz="1650">
                <a:solidFill>
                  <a:srgbClr val="F2F0F4"/>
                </a:solidFill>
                <a:latin typeface="Golos Text"/>
                <a:ea typeface="Golos Text"/>
                <a:cs typeface="Golos Text"/>
              </a:rPr>
              <a:t>Первый шаг: согласовать сценарии, группу абонентов и критерии успеха</a:t>
            </a:r>
          </a:p>
        </p:txBody>
      </p:sp>
    </p:spTree>
    <p:extLst>
      <p:ext uri="{BB962C8B-B14F-4D97-AF65-F5344CB8AC3E}">
        <ns4:creationId val="1201567585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100"/>
                      </p:stCondLst>
                      <p:childTnLst>
                        <p:par>
                          <p:cTn id="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60"/>
                      </p:stCondLst>
                      <p:childTnLst>
                        <p:par>
                          <p:cTn id="1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60"/>
                      </p:stCondLst>
                      <p:childTnLst>
                        <p:par>
                          <p:cTn id="1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620"/>
                      </p:stCondLst>
                      <p:childTnLst>
                        <p:par>
                          <p:cTn id="2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620"/>
                      </p:stCondLst>
                      <p:childTnLst>
                        <p:par>
                          <p:cTn id="24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880"/>
                      </p:stCondLst>
                      <p:childTnLst>
                        <p:par>
                          <p:cTn id="28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880"/>
                      </p:stCondLst>
                      <p:childTnLst>
                        <p:par>
                          <p:cTn id="32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4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140"/>
                      </p:stCondLst>
                      <p:childTnLst>
                        <p:par>
                          <p:cTn id="36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1400"/>
                      </p:stCondLst>
                      <p:childTnLst>
                        <p:par>
                          <p:cTn id="40" presetID="10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Golos Text"/>
        <a:ea typeface=""/>
        <a:cs typeface=""/>
      </a:majorFont>
      <a:minorFont>
        <a:latin typeface="Golos T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2026-10-13T14:17:01.4170000Z</dcterms:created>
  <dcterms:modified xsi:type="dcterms:W3CDTF">2026-10-13T14:17:01.4170000Z</dcterms:modified>
</coreProperties>
</file>